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432" r:id="rId3"/>
    <p:sldId id="441" r:id="rId4"/>
    <p:sldId id="457" r:id="rId5"/>
    <p:sldId id="469" r:id="rId6"/>
    <p:sldId id="442" r:id="rId7"/>
    <p:sldId id="470" r:id="rId8"/>
    <p:sldId id="465" r:id="rId9"/>
    <p:sldId id="471" r:id="rId10"/>
    <p:sldId id="472" r:id="rId11"/>
    <p:sldId id="473"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4" autoAdjust="0"/>
    <p:restoredTop sz="94660"/>
  </p:normalViewPr>
  <p:slideViewPr>
    <p:cSldViewPr snapToGrid="0">
      <p:cViewPr varScale="1">
        <p:scale>
          <a:sx n="113" d="100"/>
          <a:sy n="113" d="100"/>
        </p:scale>
        <p:origin x="201"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CBFD06-16F8-4665-9D64-EB9F4476D309}"/>
              </a:ext>
            </a:extLst>
          </p:cNvPr>
          <p:cNvSpPr>
            <a:spLocks noGrp="1"/>
          </p:cNvSpPr>
          <p:nvPr>
            <p:ph type="ctrTitle"/>
          </p:nvPr>
        </p:nvSpPr>
        <p:spPr>
          <a:xfrm>
            <a:off x="1524000" y="1122363"/>
            <a:ext cx="9144000" cy="2387600"/>
          </a:xfrm>
          <a:noFill/>
        </p:spPr>
        <p:txBody>
          <a:bodyPr anchor="b"/>
          <a:lstStyle>
            <a:lvl1pPr algn="ctr">
              <a:defRPr sz="6000"/>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59424D07-6844-436F-88BA-16B37AC5B7F9}"/>
              </a:ext>
            </a:extLst>
          </p:cNvPr>
          <p:cNvSpPr>
            <a:spLocks noGrp="1"/>
          </p:cNvSpPr>
          <p:nvPr>
            <p:ph type="subTitle" idx="1"/>
          </p:nvPr>
        </p:nvSpPr>
        <p:spPr>
          <a:xfrm>
            <a:off x="1524000" y="3602038"/>
            <a:ext cx="9144000" cy="1655762"/>
          </a:xfrm>
        </p:spPr>
        <p:txBody>
          <a:bodyPr/>
          <a:lstStyle>
            <a:lvl1pPr marL="0" indent="0" algn="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E4822614-EA76-47C8-AE5E-9162576A99F7}"/>
              </a:ext>
            </a:extLst>
          </p:cNvPr>
          <p:cNvSpPr>
            <a:spLocks noGrp="1"/>
          </p:cNvSpPr>
          <p:nvPr>
            <p:ph type="dt" sz="half" idx="10"/>
          </p:nvPr>
        </p:nvSpPr>
        <p:spPr/>
        <p:txBody>
          <a:bodyPr/>
          <a:lstStyle/>
          <a:p>
            <a:fld id="{79370FF0-9168-479C-94CE-E26E46A27619}" type="datetime1">
              <a:rPr kumimoji="1" lang="ja-JP" altLang="en-US" smtClean="0"/>
              <a:t>2025/3/13</a:t>
            </a:fld>
            <a:endParaRPr kumimoji="1" lang="ja-JP" altLang="en-US" dirty="0"/>
          </a:p>
        </p:txBody>
      </p:sp>
      <p:sp>
        <p:nvSpPr>
          <p:cNvPr id="5" name="フッター プレースホルダー 4">
            <a:extLst>
              <a:ext uri="{FF2B5EF4-FFF2-40B4-BE49-F238E27FC236}">
                <a16:creationId xmlns:a16="http://schemas.microsoft.com/office/drawing/2014/main" id="{C1935909-B80F-4D0B-A090-31915C3BD2E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59655A35-0918-43FB-919D-31E2A4B85511}"/>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cxnSp>
        <p:nvCxnSpPr>
          <p:cNvPr id="8" name="直線コネクタ 7">
            <a:extLst>
              <a:ext uri="{FF2B5EF4-FFF2-40B4-BE49-F238E27FC236}">
                <a16:creationId xmlns:a16="http://schemas.microsoft.com/office/drawing/2014/main" id="{8274C8DF-470F-422D-B555-4E57BFCD288C}"/>
              </a:ext>
            </a:extLst>
          </p:cNvPr>
          <p:cNvCxnSpPr/>
          <p:nvPr userDrawn="1"/>
        </p:nvCxnSpPr>
        <p:spPr>
          <a:xfrm>
            <a:off x="1046328" y="3509963"/>
            <a:ext cx="10099343"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060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FD3FBF-7C70-4579-946E-3FDAAA909D14}"/>
              </a:ext>
            </a:extLst>
          </p:cNvPr>
          <p:cNvSpPr>
            <a:spLocks noGrp="1"/>
          </p:cNvSpPr>
          <p:nvPr>
            <p:ph type="title"/>
          </p:nvPr>
        </p:nvSpPr>
        <p:spPr>
          <a:xfrm>
            <a:off x="0" y="1"/>
            <a:ext cx="12192000" cy="770400"/>
          </a:xfrm>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A8F6D143-81C5-47DE-8A2E-89BFAC12DBEE}"/>
              </a:ext>
            </a:extLst>
          </p:cNvPr>
          <p:cNvSpPr>
            <a:spLocks noGrp="1"/>
          </p:cNvSpPr>
          <p:nvPr>
            <p:ph idx="1"/>
          </p:nvPr>
        </p:nvSpPr>
        <p:spPr>
          <a:xfrm>
            <a:off x="341194" y="1050878"/>
            <a:ext cx="11518710" cy="511791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29FB7E32-1019-4C1B-8CDD-D8BDC14A0A65}"/>
              </a:ext>
            </a:extLst>
          </p:cNvPr>
          <p:cNvSpPr>
            <a:spLocks noGrp="1"/>
          </p:cNvSpPr>
          <p:nvPr>
            <p:ph type="dt" sz="half" idx="10"/>
          </p:nvPr>
        </p:nvSpPr>
        <p:spPr/>
        <p:txBody>
          <a:bodyPr/>
          <a:lstStyle/>
          <a:p>
            <a:fld id="{590E4E57-AEED-4939-B145-FF132AA66F53}" type="datetime1">
              <a:rPr kumimoji="1" lang="ja-JP" altLang="en-US" smtClean="0"/>
              <a:t>2025/3/13</a:t>
            </a:fld>
            <a:endParaRPr kumimoji="1" lang="ja-JP" altLang="en-US" dirty="0"/>
          </a:p>
        </p:txBody>
      </p:sp>
      <p:sp>
        <p:nvSpPr>
          <p:cNvPr id="5" name="フッター プレースホルダー 4">
            <a:extLst>
              <a:ext uri="{FF2B5EF4-FFF2-40B4-BE49-F238E27FC236}">
                <a16:creationId xmlns:a16="http://schemas.microsoft.com/office/drawing/2014/main" id="{868570B9-C9F8-41FB-B4B6-91EE8A6246AB}"/>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8395B90E-91EC-48D5-A716-4C7F2A6D33FB}"/>
              </a:ext>
            </a:extLst>
          </p:cNvPr>
          <p:cNvSpPr>
            <a:spLocks noGrp="1"/>
          </p:cNvSpPr>
          <p:nvPr>
            <p:ph type="sldNum" sz="quarter" idx="12"/>
          </p:nvPr>
        </p:nvSpPr>
        <p:spPr/>
        <p:txBody>
          <a:bodyPr/>
          <a:lstStyle>
            <a:lvl1pPr>
              <a:defRPr sz="2800"/>
            </a:lvl1pPr>
          </a:lstStyle>
          <a:p>
            <a:fld id="{D424D12C-9692-4086-B843-0896D3A9ECC1}" type="slidenum">
              <a:rPr lang="ja-JP" altLang="en-US" smtClean="0"/>
              <a:pPr/>
              <a:t>‹#›</a:t>
            </a:fld>
            <a:endParaRPr lang="ja-JP" altLang="en-US" dirty="0"/>
          </a:p>
        </p:txBody>
      </p:sp>
    </p:spTree>
    <p:extLst>
      <p:ext uri="{BB962C8B-B14F-4D97-AF65-F5344CB8AC3E}">
        <p14:creationId xmlns:p14="http://schemas.microsoft.com/office/powerpoint/2010/main" val="359229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2DDFEB-C811-4062-8B93-F78A9901D0E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78E8496-02BA-4B29-9F16-29EF54FF04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5E6C60E-7EA7-4D80-8EB5-63A82EDF0868}"/>
              </a:ext>
            </a:extLst>
          </p:cNvPr>
          <p:cNvSpPr>
            <a:spLocks noGrp="1"/>
          </p:cNvSpPr>
          <p:nvPr>
            <p:ph type="dt" sz="half" idx="10"/>
          </p:nvPr>
        </p:nvSpPr>
        <p:spPr/>
        <p:txBody>
          <a:bodyPr/>
          <a:lstStyle/>
          <a:p>
            <a:fld id="{96B72A95-36C6-4368-A7AC-973F7D409FA7}" type="datetime1">
              <a:rPr kumimoji="1" lang="ja-JP" altLang="en-US" smtClean="0"/>
              <a:t>2025/3/13</a:t>
            </a:fld>
            <a:endParaRPr kumimoji="1" lang="ja-JP" altLang="en-US" dirty="0"/>
          </a:p>
        </p:txBody>
      </p:sp>
      <p:sp>
        <p:nvSpPr>
          <p:cNvPr id="5" name="フッター プレースホルダー 4">
            <a:extLst>
              <a:ext uri="{FF2B5EF4-FFF2-40B4-BE49-F238E27FC236}">
                <a16:creationId xmlns:a16="http://schemas.microsoft.com/office/drawing/2014/main" id="{46F6A853-739B-4E1B-8F97-74B147A6EC00}"/>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17302B21-01C7-43B5-A8C3-E2928642C9EA}"/>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361781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F0D6A7-C881-42C7-8414-8D21A3B5C72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CBCAC0-1296-4F02-8CFD-194FF9653CF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37B77BD-EC36-4BD9-A99E-AEE725C5AEF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079B453-0F10-4F03-A6D9-8F5B3FC7D493}"/>
              </a:ext>
            </a:extLst>
          </p:cNvPr>
          <p:cNvSpPr>
            <a:spLocks noGrp="1"/>
          </p:cNvSpPr>
          <p:nvPr>
            <p:ph type="dt" sz="half" idx="10"/>
          </p:nvPr>
        </p:nvSpPr>
        <p:spPr/>
        <p:txBody>
          <a:bodyPr/>
          <a:lstStyle/>
          <a:p>
            <a:fld id="{3B16E23D-0577-4805-8956-1EEB34F6FA14}" type="datetime1">
              <a:rPr kumimoji="1" lang="ja-JP" altLang="en-US" smtClean="0"/>
              <a:t>2025/3/13</a:t>
            </a:fld>
            <a:endParaRPr kumimoji="1" lang="ja-JP" altLang="en-US" dirty="0"/>
          </a:p>
        </p:txBody>
      </p:sp>
      <p:sp>
        <p:nvSpPr>
          <p:cNvPr id="6" name="フッター プレースホルダー 5">
            <a:extLst>
              <a:ext uri="{FF2B5EF4-FFF2-40B4-BE49-F238E27FC236}">
                <a16:creationId xmlns:a16="http://schemas.microsoft.com/office/drawing/2014/main" id="{BAD0FAFA-A731-4247-A6FA-7A7102F300A6}"/>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7" name="スライド番号プレースホルダー 6">
            <a:extLst>
              <a:ext uri="{FF2B5EF4-FFF2-40B4-BE49-F238E27FC236}">
                <a16:creationId xmlns:a16="http://schemas.microsoft.com/office/drawing/2014/main" id="{57012F94-4977-4BD3-B1E2-1D0977280BAF}"/>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3865884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D0F642-F093-4AF7-904E-70E958927A1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C2F9A65-1D88-4D7D-80EE-755A84B923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DD304F7-C869-43B3-8529-1E0B3C9BEB3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034F534-228A-4A3D-8A63-792DDB8B51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BF06B86-FAF1-44F9-9B97-73832710F2A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17D01C9-156B-4C15-804E-3BC4892D2DA5}"/>
              </a:ext>
            </a:extLst>
          </p:cNvPr>
          <p:cNvSpPr>
            <a:spLocks noGrp="1"/>
          </p:cNvSpPr>
          <p:nvPr>
            <p:ph type="dt" sz="half" idx="10"/>
          </p:nvPr>
        </p:nvSpPr>
        <p:spPr/>
        <p:txBody>
          <a:bodyPr/>
          <a:lstStyle/>
          <a:p>
            <a:fld id="{4E5CEDAE-1CAC-482C-84B7-1A55208B9FBA}" type="datetime1">
              <a:rPr kumimoji="1" lang="ja-JP" altLang="en-US" smtClean="0"/>
              <a:t>2025/3/13</a:t>
            </a:fld>
            <a:endParaRPr kumimoji="1" lang="ja-JP" altLang="en-US" dirty="0"/>
          </a:p>
        </p:txBody>
      </p:sp>
      <p:sp>
        <p:nvSpPr>
          <p:cNvPr id="8" name="フッター プレースホルダー 7">
            <a:extLst>
              <a:ext uri="{FF2B5EF4-FFF2-40B4-BE49-F238E27FC236}">
                <a16:creationId xmlns:a16="http://schemas.microsoft.com/office/drawing/2014/main" id="{E179235E-7DFF-4BF7-8055-B46E0A82CEFF}"/>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9" name="スライド番号プレースホルダー 8">
            <a:extLst>
              <a:ext uri="{FF2B5EF4-FFF2-40B4-BE49-F238E27FC236}">
                <a16:creationId xmlns:a16="http://schemas.microsoft.com/office/drawing/2014/main" id="{58DC0DDB-B6EA-4407-9142-3D2BB29AC183}"/>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653907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3635AA-3671-4BBA-8AEC-7D561EE71AA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DA2704B-2B74-4863-B7DD-E17478B2C819}"/>
              </a:ext>
            </a:extLst>
          </p:cNvPr>
          <p:cNvSpPr>
            <a:spLocks noGrp="1"/>
          </p:cNvSpPr>
          <p:nvPr>
            <p:ph type="dt" sz="half" idx="10"/>
          </p:nvPr>
        </p:nvSpPr>
        <p:spPr/>
        <p:txBody>
          <a:bodyPr/>
          <a:lstStyle/>
          <a:p>
            <a:fld id="{E42C74AB-01A0-492C-920D-383E697814BA}" type="datetime1">
              <a:rPr kumimoji="1" lang="ja-JP" altLang="en-US" smtClean="0"/>
              <a:t>2025/3/13</a:t>
            </a:fld>
            <a:endParaRPr kumimoji="1" lang="ja-JP" altLang="en-US" dirty="0"/>
          </a:p>
        </p:txBody>
      </p:sp>
      <p:sp>
        <p:nvSpPr>
          <p:cNvPr id="4" name="フッター プレースホルダー 3">
            <a:extLst>
              <a:ext uri="{FF2B5EF4-FFF2-40B4-BE49-F238E27FC236}">
                <a16:creationId xmlns:a16="http://schemas.microsoft.com/office/drawing/2014/main" id="{11D81B5A-9ED0-405F-8A7C-99814F4F41D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5" name="スライド番号プレースホルダー 4">
            <a:extLst>
              <a:ext uri="{FF2B5EF4-FFF2-40B4-BE49-F238E27FC236}">
                <a16:creationId xmlns:a16="http://schemas.microsoft.com/office/drawing/2014/main" id="{ABFEF174-11C0-4A3A-960F-8DAF73BAE36A}"/>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2300166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32FD997-5D8C-4F17-91DA-1B68B5D8D0A1}"/>
              </a:ext>
            </a:extLst>
          </p:cNvPr>
          <p:cNvSpPr>
            <a:spLocks noGrp="1"/>
          </p:cNvSpPr>
          <p:nvPr>
            <p:ph type="dt" sz="half" idx="10"/>
          </p:nvPr>
        </p:nvSpPr>
        <p:spPr/>
        <p:txBody>
          <a:bodyPr/>
          <a:lstStyle/>
          <a:p>
            <a:fld id="{B1790EE8-4EA6-487A-9817-65E6013DB96D}" type="datetime1">
              <a:rPr kumimoji="1" lang="ja-JP" altLang="en-US" smtClean="0"/>
              <a:t>2025/3/13</a:t>
            </a:fld>
            <a:endParaRPr kumimoji="1" lang="ja-JP" altLang="en-US" dirty="0"/>
          </a:p>
        </p:txBody>
      </p:sp>
      <p:sp>
        <p:nvSpPr>
          <p:cNvPr id="3" name="フッター プレースホルダー 2">
            <a:extLst>
              <a:ext uri="{FF2B5EF4-FFF2-40B4-BE49-F238E27FC236}">
                <a16:creationId xmlns:a16="http://schemas.microsoft.com/office/drawing/2014/main" id="{9796DF2D-6752-461D-8FE1-4404D8412631}"/>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EB9C5B3-360F-43B8-886C-6D1F0EA7C648}"/>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2572435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A1AD22-7CFF-4DAE-ACAC-D5257591F2E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1A6935-456C-4CEA-A578-F4CAB86CB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7EBEE3D-A171-435C-8EE4-CBDEF820E4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39AE19-B7AB-4059-A637-E9148E833345}"/>
              </a:ext>
            </a:extLst>
          </p:cNvPr>
          <p:cNvSpPr>
            <a:spLocks noGrp="1"/>
          </p:cNvSpPr>
          <p:nvPr>
            <p:ph type="dt" sz="half" idx="10"/>
          </p:nvPr>
        </p:nvSpPr>
        <p:spPr/>
        <p:txBody>
          <a:bodyPr/>
          <a:lstStyle/>
          <a:p>
            <a:fld id="{A66F0303-38BE-4CA3-B378-7B7BEE0D53D7}" type="datetime1">
              <a:rPr kumimoji="1" lang="ja-JP" altLang="en-US" smtClean="0"/>
              <a:t>2025/3/13</a:t>
            </a:fld>
            <a:endParaRPr kumimoji="1" lang="ja-JP" altLang="en-US" dirty="0"/>
          </a:p>
        </p:txBody>
      </p:sp>
      <p:sp>
        <p:nvSpPr>
          <p:cNvPr id="6" name="フッター プレースホルダー 5">
            <a:extLst>
              <a:ext uri="{FF2B5EF4-FFF2-40B4-BE49-F238E27FC236}">
                <a16:creationId xmlns:a16="http://schemas.microsoft.com/office/drawing/2014/main" id="{18EB58E4-25FC-493D-99AF-9480E2FEB338}"/>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7" name="スライド番号プレースホルダー 6">
            <a:extLst>
              <a:ext uri="{FF2B5EF4-FFF2-40B4-BE49-F238E27FC236}">
                <a16:creationId xmlns:a16="http://schemas.microsoft.com/office/drawing/2014/main" id="{B245B7B8-9CBE-47E9-B198-FC7D8FB3786F}"/>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403865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99AF3-4894-4A42-AF2A-2B547D7726A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268F35F-274F-47F8-A403-21C3AEE772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dirty="0"/>
              <a:t>アイコンをクリックして図を追加</a:t>
            </a:r>
          </a:p>
        </p:txBody>
      </p:sp>
      <p:sp>
        <p:nvSpPr>
          <p:cNvPr id="4" name="テキスト プレースホルダー 3">
            <a:extLst>
              <a:ext uri="{FF2B5EF4-FFF2-40B4-BE49-F238E27FC236}">
                <a16:creationId xmlns:a16="http://schemas.microsoft.com/office/drawing/2014/main" id="{F2B28863-62F2-45A6-B813-2D013F467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7B7203D-3A67-4CF0-A8BE-49860055B854}"/>
              </a:ext>
            </a:extLst>
          </p:cNvPr>
          <p:cNvSpPr>
            <a:spLocks noGrp="1"/>
          </p:cNvSpPr>
          <p:nvPr>
            <p:ph type="dt" sz="half" idx="10"/>
          </p:nvPr>
        </p:nvSpPr>
        <p:spPr/>
        <p:txBody>
          <a:bodyPr/>
          <a:lstStyle/>
          <a:p>
            <a:fld id="{426D8AB0-AF1B-4E63-8FA7-E28C3CDAC33B}" type="datetime1">
              <a:rPr kumimoji="1" lang="ja-JP" altLang="en-US" smtClean="0"/>
              <a:t>2025/3/13</a:t>
            </a:fld>
            <a:endParaRPr kumimoji="1" lang="ja-JP" altLang="en-US" dirty="0"/>
          </a:p>
        </p:txBody>
      </p:sp>
      <p:sp>
        <p:nvSpPr>
          <p:cNvPr id="6" name="フッター プレースホルダー 5">
            <a:extLst>
              <a:ext uri="{FF2B5EF4-FFF2-40B4-BE49-F238E27FC236}">
                <a16:creationId xmlns:a16="http://schemas.microsoft.com/office/drawing/2014/main" id="{FF3C90BC-15A0-4AAB-B798-3A75FB007DFD}"/>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7" name="スライド番号プレースホルダー 6">
            <a:extLst>
              <a:ext uri="{FF2B5EF4-FFF2-40B4-BE49-F238E27FC236}">
                <a16:creationId xmlns:a16="http://schemas.microsoft.com/office/drawing/2014/main" id="{AD5CAED8-1D1D-49AB-917A-975ED3B02EB0}"/>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283353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A1E550-E9F2-4CA5-98E8-AF10552813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5903292-A1F8-463E-B0B7-C13CFA24ADA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D7ABDC-EEEB-4576-B149-FA8960C64896}"/>
              </a:ext>
            </a:extLst>
          </p:cNvPr>
          <p:cNvSpPr>
            <a:spLocks noGrp="1"/>
          </p:cNvSpPr>
          <p:nvPr>
            <p:ph type="dt" sz="half" idx="10"/>
          </p:nvPr>
        </p:nvSpPr>
        <p:spPr/>
        <p:txBody>
          <a:bodyPr/>
          <a:lstStyle/>
          <a:p>
            <a:fld id="{C107469C-F531-43B2-B2DE-922AC50BDA5E}" type="datetime1">
              <a:rPr kumimoji="1" lang="ja-JP" altLang="en-US" smtClean="0"/>
              <a:t>2025/3/13</a:t>
            </a:fld>
            <a:endParaRPr kumimoji="1" lang="ja-JP" altLang="en-US" dirty="0"/>
          </a:p>
        </p:txBody>
      </p:sp>
      <p:sp>
        <p:nvSpPr>
          <p:cNvPr id="5" name="フッター プレースホルダー 4">
            <a:extLst>
              <a:ext uri="{FF2B5EF4-FFF2-40B4-BE49-F238E27FC236}">
                <a16:creationId xmlns:a16="http://schemas.microsoft.com/office/drawing/2014/main" id="{EF5D1F1D-2341-4E41-9EE6-4B7533F6448D}"/>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43757FE0-E024-4520-9370-106EA0FEB7D7}"/>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3672889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2387397-F5AA-4D2A-BD9C-E4C78111B49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CE870A2-99DD-4B58-AD3F-FAD39DF54D9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ABA528-F910-432F-8BBD-C33694E8E6F0}"/>
              </a:ext>
            </a:extLst>
          </p:cNvPr>
          <p:cNvSpPr>
            <a:spLocks noGrp="1"/>
          </p:cNvSpPr>
          <p:nvPr>
            <p:ph type="dt" sz="half" idx="10"/>
          </p:nvPr>
        </p:nvSpPr>
        <p:spPr/>
        <p:txBody>
          <a:bodyPr/>
          <a:lstStyle/>
          <a:p>
            <a:fld id="{A2A0F4A8-CFC7-47E3-A4C6-0B8C662CBA56}" type="datetime1">
              <a:rPr kumimoji="1" lang="ja-JP" altLang="en-US" smtClean="0"/>
              <a:t>2025/3/13</a:t>
            </a:fld>
            <a:endParaRPr kumimoji="1" lang="ja-JP" altLang="en-US" dirty="0"/>
          </a:p>
        </p:txBody>
      </p:sp>
      <p:sp>
        <p:nvSpPr>
          <p:cNvPr id="5" name="フッター プレースホルダー 4">
            <a:extLst>
              <a:ext uri="{FF2B5EF4-FFF2-40B4-BE49-F238E27FC236}">
                <a16:creationId xmlns:a16="http://schemas.microsoft.com/office/drawing/2014/main" id="{CF1F0470-A357-4FCF-B601-6BFF5EBAA6AE}"/>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25ABBC06-E58B-4DB7-A564-3DCC8ABD1C0B}"/>
              </a:ext>
            </a:extLst>
          </p:cNvPr>
          <p:cNvSpPr>
            <a:spLocks noGrp="1"/>
          </p:cNvSpPr>
          <p:nvPr>
            <p:ph type="sldNum" sz="quarter" idx="12"/>
          </p:nvPr>
        </p:nvSpPr>
        <p:spPr/>
        <p:txBody>
          <a:bodyPr/>
          <a:lstStyle/>
          <a:p>
            <a:fld id="{D424D12C-9692-4086-B843-0896D3A9ECC1}" type="slidenum">
              <a:rPr kumimoji="1" lang="ja-JP" altLang="en-US" smtClean="0"/>
              <a:t>‹#›</a:t>
            </a:fld>
            <a:endParaRPr kumimoji="1" lang="ja-JP" altLang="en-US" dirty="0"/>
          </a:p>
        </p:txBody>
      </p:sp>
    </p:spTree>
    <p:extLst>
      <p:ext uri="{BB962C8B-B14F-4D97-AF65-F5344CB8AC3E}">
        <p14:creationId xmlns:p14="http://schemas.microsoft.com/office/powerpoint/2010/main" val="969320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3FABE7E-9568-490E-AEA5-FD847C9327F5}"/>
              </a:ext>
            </a:extLst>
          </p:cNvPr>
          <p:cNvSpPr>
            <a:spLocks noGrp="1"/>
          </p:cNvSpPr>
          <p:nvPr>
            <p:ph type="title"/>
          </p:nvPr>
        </p:nvSpPr>
        <p:spPr>
          <a:xfrm>
            <a:off x="0" y="1"/>
            <a:ext cx="12192000" cy="770400"/>
          </a:xfrm>
          <a:prstGeom prst="rect">
            <a:avLst/>
          </a:prstGeom>
          <a:solidFill>
            <a:schemeClr val="accent1"/>
          </a:solidFill>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8AC255CD-5020-4EE1-9AE6-9F0FCF3AA7C7}"/>
              </a:ext>
            </a:extLst>
          </p:cNvPr>
          <p:cNvSpPr>
            <a:spLocks noGrp="1"/>
          </p:cNvSpPr>
          <p:nvPr>
            <p:ph type="body" idx="1"/>
          </p:nvPr>
        </p:nvSpPr>
        <p:spPr>
          <a:xfrm>
            <a:off x="-1" y="1050878"/>
            <a:ext cx="12078269" cy="5117910"/>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611877E7-0A3C-4D84-81B3-A8FE4ED732E7}"/>
              </a:ext>
            </a:extLst>
          </p:cNvPr>
          <p:cNvSpPr>
            <a:spLocks noGrp="1"/>
          </p:cNvSpPr>
          <p:nvPr>
            <p:ph type="dt" sz="half" idx="2"/>
          </p:nvPr>
        </p:nvSpPr>
        <p:spPr>
          <a:xfrm>
            <a:off x="9335068" y="6356349"/>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037CDC01-A9F3-4D86-9BC5-F6A6B4D0064E}" type="datetime1">
              <a:rPr lang="ja-JP" altLang="en-US" smtClean="0"/>
              <a:t>2025/3/13</a:t>
            </a:fld>
            <a:endParaRPr lang="ja-JP" altLang="en-US" dirty="0"/>
          </a:p>
        </p:txBody>
      </p:sp>
      <p:sp>
        <p:nvSpPr>
          <p:cNvPr id="6" name="スライド番号プレースホルダー 5">
            <a:extLst>
              <a:ext uri="{FF2B5EF4-FFF2-40B4-BE49-F238E27FC236}">
                <a16:creationId xmlns:a16="http://schemas.microsoft.com/office/drawing/2014/main" id="{82B28BA8-2E1C-4540-B062-893C801054DF}"/>
              </a:ext>
            </a:extLst>
          </p:cNvPr>
          <p:cNvSpPr>
            <a:spLocks noGrp="1"/>
          </p:cNvSpPr>
          <p:nvPr>
            <p:ph type="sldNum" sz="quarter" idx="4"/>
          </p:nvPr>
        </p:nvSpPr>
        <p:spPr>
          <a:xfrm>
            <a:off x="9448800" y="0"/>
            <a:ext cx="2743200" cy="1050877"/>
          </a:xfrm>
          <a:prstGeom prst="rect">
            <a:avLst/>
          </a:prstGeom>
          <a:noFill/>
        </p:spPr>
        <p:txBody>
          <a:bodyPr vert="horz" lIns="91440" tIns="45720" rIns="91440" bIns="45720" rtlCol="0" anchor="ctr"/>
          <a:lstStyle>
            <a:lvl1pPr algn="r">
              <a:defRPr sz="2000">
                <a:solidFill>
                  <a:schemeClr val="bg1"/>
                </a:solidFill>
              </a:defRPr>
            </a:lvl1pPr>
          </a:lstStyle>
          <a:p>
            <a:fld id="{D424D12C-9692-4086-B843-0896D3A9ECC1}" type="slidenum">
              <a:rPr lang="ja-JP" altLang="en-US" smtClean="0"/>
              <a:pPr/>
              <a:t>‹#›</a:t>
            </a:fld>
            <a:endParaRPr lang="ja-JP" altLang="en-US" dirty="0"/>
          </a:p>
        </p:txBody>
      </p:sp>
    </p:spTree>
    <p:extLst>
      <p:ext uri="{BB962C8B-B14F-4D97-AF65-F5344CB8AC3E}">
        <p14:creationId xmlns:p14="http://schemas.microsoft.com/office/powerpoint/2010/main" val="1363675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BD1A62-1911-451F-BB19-10E296031954}"/>
              </a:ext>
            </a:extLst>
          </p:cNvPr>
          <p:cNvSpPr>
            <a:spLocks noGrp="1"/>
          </p:cNvSpPr>
          <p:nvPr>
            <p:ph type="ctrTitle"/>
          </p:nvPr>
        </p:nvSpPr>
        <p:spPr/>
        <p:txBody>
          <a:bodyPr>
            <a:normAutofit/>
          </a:bodyPr>
          <a:lstStyle/>
          <a:p>
            <a:r>
              <a:rPr kumimoji="1" lang="ja-JP" altLang="en-US" dirty="0">
                <a:solidFill>
                  <a:schemeClr val="tx1"/>
                </a:solidFill>
              </a:rPr>
              <a:t>回路固定方法説明</a:t>
            </a:r>
            <a:r>
              <a:rPr lang="ja-JP" altLang="en-US" dirty="0">
                <a:solidFill>
                  <a:schemeClr val="tx1"/>
                </a:solidFill>
              </a:rPr>
              <a:t>資料</a:t>
            </a:r>
            <a:r>
              <a:rPr kumimoji="1" lang="en-US" altLang="ja-JP" dirty="0">
                <a:solidFill>
                  <a:schemeClr val="tx1"/>
                </a:solidFill>
              </a:rPr>
              <a:t/>
            </a:r>
            <a:br>
              <a:rPr kumimoji="1" lang="en-US" altLang="ja-JP" dirty="0">
                <a:solidFill>
                  <a:schemeClr val="tx1"/>
                </a:solidFill>
              </a:rPr>
            </a:br>
            <a:r>
              <a:rPr kumimoji="1" lang="en-US" altLang="ja-JP" sz="3600" dirty="0" err="1" smtClean="0">
                <a:solidFill>
                  <a:schemeClr val="tx1"/>
                </a:solidFill>
              </a:rPr>
              <a:t>Pblock</a:t>
            </a:r>
            <a:r>
              <a:rPr kumimoji="1" lang="ja-JP" altLang="en-US" sz="3600" smtClean="0">
                <a:solidFill>
                  <a:schemeClr val="tx1"/>
                </a:solidFill>
              </a:rPr>
              <a:t>属性による</a:t>
            </a:r>
            <a:r>
              <a:rPr kumimoji="1" lang="ja-JP" altLang="en-US" sz="3600" dirty="0">
                <a:solidFill>
                  <a:schemeClr val="tx1"/>
                </a:solidFill>
              </a:rPr>
              <a:t>実装エリア分け</a:t>
            </a:r>
            <a:r>
              <a:rPr kumimoji="1" lang="en-US" altLang="ja-JP" sz="3600" dirty="0">
                <a:solidFill>
                  <a:schemeClr val="tx1"/>
                </a:solidFill>
              </a:rPr>
              <a:t/>
            </a:r>
            <a:br>
              <a:rPr kumimoji="1" lang="en-US" altLang="ja-JP" sz="3600" dirty="0">
                <a:solidFill>
                  <a:schemeClr val="tx1"/>
                </a:solidFill>
              </a:rPr>
            </a:br>
            <a:r>
              <a:rPr kumimoji="1" lang="en-US" altLang="ja-JP" sz="3600" dirty="0">
                <a:solidFill>
                  <a:schemeClr val="tx1"/>
                </a:solidFill>
              </a:rPr>
              <a:t>BEL</a:t>
            </a:r>
            <a:r>
              <a:rPr kumimoji="1" lang="ja-JP" altLang="en-US" sz="3600" dirty="0">
                <a:solidFill>
                  <a:schemeClr val="tx1"/>
                </a:solidFill>
              </a:rPr>
              <a:t>・</a:t>
            </a:r>
            <a:r>
              <a:rPr kumimoji="1" lang="en-US" altLang="ja-JP" sz="3600" dirty="0">
                <a:solidFill>
                  <a:schemeClr val="tx1"/>
                </a:solidFill>
              </a:rPr>
              <a:t>LOC</a:t>
            </a:r>
            <a:r>
              <a:rPr kumimoji="1" lang="ja-JP" altLang="en-US" sz="3600" dirty="0">
                <a:solidFill>
                  <a:schemeClr val="tx1"/>
                </a:solidFill>
              </a:rPr>
              <a:t>属性による配置固定</a:t>
            </a:r>
            <a:endParaRPr kumimoji="1" lang="ja-JP" altLang="en-US" dirty="0">
              <a:solidFill>
                <a:schemeClr val="tx1"/>
              </a:solidFill>
            </a:endParaRPr>
          </a:p>
        </p:txBody>
      </p:sp>
      <p:sp>
        <p:nvSpPr>
          <p:cNvPr id="3" name="字幕 2">
            <a:extLst>
              <a:ext uri="{FF2B5EF4-FFF2-40B4-BE49-F238E27FC236}">
                <a16:creationId xmlns:a16="http://schemas.microsoft.com/office/drawing/2014/main" id="{E33DC5D1-AAB4-417C-80EA-2FCBDC14F435}"/>
              </a:ext>
            </a:extLst>
          </p:cNvPr>
          <p:cNvSpPr>
            <a:spLocks noGrp="1"/>
          </p:cNvSpPr>
          <p:nvPr>
            <p:ph type="subTitle" idx="1"/>
          </p:nvPr>
        </p:nvSpPr>
        <p:spPr/>
        <p:txBody>
          <a:bodyPr/>
          <a:lstStyle/>
          <a:p>
            <a:r>
              <a:rPr kumimoji="1" lang="en-US" altLang="ja-JP" dirty="0"/>
              <a:t>2025</a:t>
            </a:r>
            <a:r>
              <a:rPr kumimoji="1" lang="ja-JP" altLang="en-US" dirty="0"/>
              <a:t>年</a:t>
            </a:r>
            <a:r>
              <a:rPr kumimoji="1" lang="en-US" altLang="ja-JP" dirty="0"/>
              <a:t>3</a:t>
            </a:r>
            <a:r>
              <a:rPr kumimoji="1" lang="ja-JP" altLang="en-US" dirty="0"/>
              <a:t>月</a:t>
            </a:r>
            <a:r>
              <a:rPr kumimoji="1" lang="en-US" altLang="ja-JP" dirty="0"/>
              <a:t>13</a:t>
            </a:r>
            <a:r>
              <a:rPr kumimoji="1" lang="ja-JP" altLang="en-US" dirty="0"/>
              <a:t>日 松坂 拓海</a:t>
            </a:r>
          </a:p>
        </p:txBody>
      </p:sp>
    </p:spTree>
    <p:extLst>
      <p:ext uri="{BB962C8B-B14F-4D97-AF65-F5344CB8AC3E}">
        <p14:creationId xmlns:p14="http://schemas.microsoft.com/office/powerpoint/2010/main" val="2702805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09D411-C0D5-4E1B-B138-7FD03FB44A2E}"/>
              </a:ext>
            </a:extLst>
          </p:cNvPr>
          <p:cNvSpPr>
            <a:spLocks noGrp="1"/>
          </p:cNvSpPr>
          <p:nvPr>
            <p:ph type="title"/>
          </p:nvPr>
        </p:nvSpPr>
        <p:spPr/>
        <p:txBody>
          <a:bodyPr/>
          <a:lstStyle/>
          <a:p>
            <a:r>
              <a:rPr kumimoji="1" lang="ja-JP" altLang="en-US" dirty="0"/>
              <a:t>回路固定方法検討</a:t>
            </a:r>
          </a:p>
        </p:txBody>
      </p:sp>
      <p:sp>
        <p:nvSpPr>
          <p:cNvPr id="3" name="コンテンツ プレースホルダー 2">
            <a:extLst>
              <a:ext uri="{FF2B5EF4-FFF2-40B4-BE49-F238E27FC236}">
                <a16:creationId xmlns:a16="http://schemas.microsoft.com/office/drawing/2014/main" id="{BD3E69F3-6948-4231-B7A1-A22153C46577}"/>
              </a:ext>
            </a:extLst>
          </p:cNvPr>
          <p:cNvSpPr>
            <a:spLocks noGrp="1"/>
          </p:cNvSpPr>
          <p:nvPr>
            <p:ph idx="1"/>
          </p:nvPr>
        </p:nvSpPr>
        <p:spPr>
          <a:xfrm>
            <a:off x="341194" y="1050878"/>
            <a:ext cx="11518710" cy="5654722"/>
          </a:xfrm>
        </p:spPr>
        <p:txBody>
          <a:bodyPr>
            <a:normAutofit/>
          </a:bodyPr>
          <a:lstStyle/>
          <a:p>
            <a:pPr marL="0" indent="0">
              <a:spcAft>
                <a:spcPts val="600"/>
              </a:spcAft>
              <a:buNone/>
            </a:pPr>
            <a:r>
              <a:rPr lang="ja-JP" altLang="en-US" sz="2400" dirty="0"/>
              <a:t>前提）</a:t>
            </a:r>
            <a:r>
              <a:rPr kumimoji="1" lang="ja-JP" altLang="en-US" sz="2400" dirty="0"/>
              <a:t>同期回路の予備実験結果から話を展開</a:t>
            </a:r>
            <a:endParaRPr kumimoji="1" lang="en-US" altLang="ja-JP" sz="2400" dirty="0"/>
          </a:p>
          <a:p>
            <a:pPr lvl="1">
              <a:spcAft>
                <a:spcPts val="600"/>
              </a:spcAft>
            </a:pPr>
            <a:r>
              <a:rPr lang="ja-JP" altLang="en-US" sz="1800" dirty="0"/>
              <a:t>同期回路の予備実験とこれから行う予備実験はなるべく条件を揃える</a:t>
            </a:r>
            <a:endParaRPr lang="en-US" altLang="ja-JP" sz="1800" dirty="0"/>
          </a:p>
          <a:p>
            <a:pPr lvl="1">
              <a:spcAft>
                <a:spcPts val="600"/>
              </a:spcAft>
            </a:pPr>
            <a:r>
              <a:rPr kumimoji="1" lang="ja-JP" altLang="en-US" sz="1800" dirty="0"/>
              <a:t>仮に傾向が同期回路と非同期回路で異なる結果に</a:t>
            </a:r>
            <a:r>
              <a:rPr lang="ja-JP" altLang="en-US" sz="1800" dirty="0"/>
              <a:t>なった場合</a:t>
            </a:r>
            <a:endParaRPr lang="en-US" altLang="ja-JP" sz="1800" dirty="0"/>
          </a:p>
          <a:p>
            <a:pPr marL="457200" lvl="1" indent="0">
              <a:spcAft>
                <a:spcPts val="600"/>
              </a:spcAft>
              <a:buNone/>
            </a:pPr>
            <a:r>
              <a:rPr lang="ja-JP" altLang="en-US" sz="1800" dirty="0"/>
              <a:t>   → </a:t>
            </a:r>
            <a:r>
              <a:rPr lang="en-US" altLang="ja-JP" sz="1800" dirty="0"/>
              <a:t>CLK</a:t>
            </a:r>
            <a:r>
              <a:rPr lang="ja-JP" altLang="en-US" sz="1800" dirty="0" err="1"/>
              <a:t>、</a:t>
            </a:r>
            <a:r>
              <a:rPr lang="en-US" altLang="ja-JP" sz="1800" dirty="0"/>
              <a:t>C</a:t>
            </a:r>
            <a:r>
              <a:rPr lang="ja-JP" altLang="en-US" sz="1800" dirty="0"/>
              <a:t>素子以外の要因があると結果の考察に困る</a:t>
            </a:r>
            <a:endParaRPr kumimoji="1" lang="en-US" altLang="ja-JP" sz="1800" dirty="0"/>
          </a:p>
          <a:p>
            <a:pPr>
              <a:spcAft>
                <a:spcPts val="600"/>
              </a:spcAft>
              <a:buFont typeface="Wingdings" panose="05000000000000000000" pitchFamily="2" charset="2"/>
              <a:buChar char="l"/>
            </a:pPr>
            <a:r>
              <a:rPr kumimoji="1" lang="ja-JP" altLang="en-US" sz="2400" dirty="0"/>
              <a:t>既知の問題</a:t>
            </a:r>
            <a:r>
              <a:rPr lang="en-US" altLang="ja-JP" sz="2400" dirty="0"/>
              <a:t>	</a:t>
            </a:r>
          </a:p>
          <a:p>
            <a:pPr lvl="1">
              <a:spcAft>
                <a:spcPts val="600"/>
              </a:spcAft>
            </a:pPr>
            <a:r>
              <a:rPr lang="en-US" altLang="ja-JP" sz="1800" dirty="0"/>
              <a:t>C</a:t>
            </a:r>
            <a:r>
              <a:rPr lang="ja-JP" altLang="en-US" sz="1800" dirty="0"/>
              <a:t>素子</a:t>
            </a:r>
            <a:r>
              <a:rPr lang="en-US" altLang="ja-JP" sz="1800" dirty="0"/>
              <a:t>‐Implementation</a:t>
            </a:r>
            <a:r>
              <a:rPr lang="ja-JP" altLang="en-US" sz="1800" dirty="0"/>
              <a:t>の度に配置配線結果が変わり、遅延量も変化する</a:t>
            </a:r>
            <a:endParaRPr lang="en-US" altLang="ja-JP" sz="1800" dirty="0"/>
          </a:p>
          <a:p>
            <a:pPr marL="457200" lvl="1" indent="0">
              <a:spcAft>
                <a:spcPts val="600"/>
              </a:spcAft>
              <a:buNone/>
            </a:pPr>
            <a:r>
              <a:rPr kumimoji="1" lang="ja-JP" altLang="en-US" sz="1800" dirty="0"/>
              <a:t>   →</a:t>
            </a:r>
            <a:r>
              <a:rPr kumimoji="1" lang="en-US" altLang="ja-JP" sz="1800" dirty="0"/>
              <a:t>C</a:t>
            </a:r>
            <a:r>
              <a:rPr kumimoji="1" lang="ja-JP" altLang="en-US" sz="1800" dirty="0"/>
              <a:t>素子の配置固定は必須</a:t>
            </a:r>
            <a:endParaRPr kumimoji="1" lang="en-US" altLang="ja-JP" sz="1800" dirty="0"/>
          </a:p>
          <a:p>
            <a:pPr>
              <a:spcAft>
                <a:spcPts val="600"/>
              </a:spcAft>
              <a:buFont typeface="Wingdings" panose="05000000000000000000" pitchFamily="2" charset="2"/>
              <a:buChar char="l"/>
            </a:pPr>
            <a:r>
              <a:rPr lang="ja-JP" altLang="en-US" sz="2400" dirty="0"/>
              <a:t>基本は同期回路の予備実験と同様の方法で固定</a:t>
            </a:r>
            <a:endParaRPr lang="en-US" altLang="ja-JP" sz="2400" dirty="0"/>
          </a:p>
          <a:p>
            <a:pPr lvl="1">
              <a:spcAft>
                <a:spcPts val="600"/>
              </a:spcAft>
            </a:pPr>
            <a:r>
              <a:rPr lang="ja-JP" altLang="en-US" sz="1800" dirty="0"/>
              <a:t>同期回路の時）最も大きい回路規模パターンを実装し、固定。その後小さいパターンを試す</a:t>
            </a:r>
            <a:endParaRPr lang="en-US" altLang="ja-JP" sz="1800" dirty="0"/>
          </a:p>
          <a:p>
            <a:pPr lvl="1">
              <a:spcAft>
                <a:spcPts val="600"/>
              </a:spcAft>
            </a:pPr>
            <a:r>
              <a:rPr lang="ja-JP" altLang="en-US" sz="1800" dirty="0"/>
              <a:t>Ｃ素子を用いた非同期回路の予備実験でも同様の方法を採用</a:t>
            </a:r>
            <a:endParaRPr lang="en-US" altLang="ja-JP" sz="1800" dirty="0"/>
          </a:p>
          <a:p>
            <a:pPr lvl="1"/>
            <a:r>
              <a:rPr kumimoji="1" lang="ja-JP" altLang="en-US" sz="1800" dirty="0"/>
              <a:t>タイミング違反等問題が起きるようなら、周辺回路</a:t>
            </a:r>
            <a:r>
              <a:rPr lang="en-US" altLang="ja-JP" sz="1800" dirty="0"/>
              <a:t>/</a:t>
            </a:r>
            <a:r>
              <a:rPr kumimoji="1" lang="ja-JP" altLang="en-US" sz="1800" dirty="0"/>
              <a:t>Ｃ素子</a:t>
            </a:r>
            <a:r>
              <a:rPr kumimoji="1" lang="en-US" altLang="ja-JP" sz="1800" dirty="0"/>
              <a:t>/DL</a:t>
            </a:r>
            <a:r>
              <a:rPr lang="ja-JP" altLang="en-US" sz="1800" dirty="0"/>
              <a:t>は固定、</a:t>
            </a:r>
            <a:r>
              <a:rPr lang="en-US" altLang="ja-JP" sz="1800" dirty="0"/>
              <a:t>Logic</a:t>
            </a:r>
            <a:r>
              <a:rPr lang="ja-JP" altLang="en-US" sz="1800" dirty="0"/>
              <a:t>固定なし</a:t>
            </a:r>
            <a:endParaRPr lang="en-US" altLang="ja-JP" sz="1800" dirty="0"/>
          </a:p>
          <a:p>
            <a:pPr marL="457200" lvl="1" indent="0">
              <a:buNone/>
            </a:pPr>
            <a:r>
              <a:rPr kumimoji="1" lang="ja-JP" altLang="en-US" sz="1800" dirty="0"/>
              <a:t>   のように固定する範囲を縮小していく</a:t>
            </a:r>
            <a:endParaRPr kumimoji="1" lang="en-US" altLang="ja-JP" sz="1800" dirty="0"/>
          </a:p>
        </p:txBody>
      </p:sp>
      <p:sp>
        <p:nvSpPr>
          <p:cNvPr id="4" name="スライド番号プレースホルダー 3">
            <a:extLst>
              <a:ext uri="{FF2B5EF4-FFF2-40B4-BE49-F238E27FC236}">
                <a16:creationId xmlns:a16="http://schemas.microsoft.com/office/drawing/2014/main" id="{36164811-122B-4C64-806C-80D927F1F6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spTree>
    <p:extLst>
      <p:ext uri="{BB962C8B-B14F-4D97-AF65-F5344CB8AC3E}">
        <p14:creationId xmlns:p14="http://schemas.microsoft.com/office/powerpoint/2010/main" val="18828384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DAB508-584A-4645-AC8A-955D0B98CE23}"/>
              </a:ext>
            </a:extLst>
          </p:cNvPr>
          <p:cNvSpPr>
            <a:spLocks noGrp="1"/>
          </p:cNvSpPr>
          <p:nvPr>
            <p:ph type="title"/>
          </p:nvPr>
        </p:nvSpPr>
        <p:spPr/>
        <p:txBody>
          <a:bodyPr/>
          <a:lstStyle/>
          <a:p>
            <a:r>
              <a:rPr lang="en-US" altLang="ja-JP" dirty="0"/>
              <a:t>Thunder</a:t>
            </a:r>
            <a:r>
              <a:rPr lang="ja-JP" altLang="en-US" dirty="0" err="1"/>
              <a:t>さんへ</a:t>
            </a:r>
            <a:r>
              <a:rPr lang="ja-JP" altLang="en-US" dirty="0"/>
              <a:t>相談</a:t>
            </a:r>
            <a:endParaRPr kumimoji="1" lang="ja-JP" altLang="en-US" dirty="0"/>
          </a:p>
        </p:txBody>
      </p:sp>
      <p:sp>
        <p:nvSpPr>
          <p:cNvPr id="3" name="コンテンツ プレースホルダー 2">
            <a:extLst>
              <a:ext uri="{FF2B5EF4-FFF2-40B4-BE49-F238E27FC236}">
                <a16:creationId xmlns:a16="http://schemas.microsoft.com/office/drawing/2014/main" id="{06290CEF-93D3-419C-9347-5BF1A6D34FE2}"/>
              </a:ext>
            </a:extLst>
          </p:cNvPr>
          <p:cNvSpPr>
            <a:spLocks noGrp="1"/>
          </p:cNvSpPr>
          <p:nvPr>
            <p:ph idx="1"/>
          </p:nvPr>
        </p:nvSpPr>
        <p:spPr>
          <a:xfrm>
            <a:off x="341194" y="1050877"/>
            <a:ext cx="11518710" cy="5574210"/>
          </a:xfrm>
        </p:spPr>
        <p:txBody>
          <a:bodyPr>
            <a:normAutofit/>
          </a:bodyPr>
          <a:lstStyle/>
          <a:p>
            <a:pPr>
              <a:buFont typeface="Wingdings" panose="05000000000000000000" pitchFamily="2" charset="2"/>
              <a:buChar char="l"/>
            </a:pPr>
            <a:r>
              <a:rPr kumimoji="1" lang="en-US" altLang="ja-JP" dirty="0"/>
              <a:t>Thunder</a:t>
            </a:r>
            <a:r>
              <a:rPr kumimoji="1" lang="ja-JP" altLang="en-US" dirty="0" err="1"/>
              <a:t>さん</a:t>
            </a:r>
            <a:r>
              <a:rPr lang="ja-JP" altLang="en-US" dirty="0" err="1"/>
              <a:t>の</a:t>
            </a:r>
            <a:r>
              <a:rPr lang="en-US" altLang="ja-JP" dirty="0"/>
              <a:t>C</a:t>
            </a:r>
            <a:r>
              <a:rPr lang="ja-JP" altLang="en-US" dirty="0"/>
              <a:t>素子遅延時間特定・保障方法</a:t>
            </a:r>
            <a:endParaRPr lang="en-US" altLang="ja-JP" dirty="0"/>
          </a:p>
          <a:p>
            <a:pPr marL="800100" lvl="1" indent="-342900">
              <a:buFont typeface="+mj-lt"/>
              <a:buAutoNum type="arabicPeriod"/>
            </a:pPr>
            <a:r>
              <a:rPr lang="en-US" altLang="ja-JP" sz="1800" dirty="0" err="1"/>
              <a:t>Pblock</a:t>
            </a:r>
            <a:r>
              <a:rPr lang="ja-JP" altLang="en-US" sz="1800" dirty="0"/>
              <a:t>属性で</a:t>
            </a:r>
            <a:r>
              <a:rPr lang="en-US" altLang="ja-JP" sz="1800" dirty="0"/>
              <a:t>C</a:t>
            </a:r>
            <a:r>
              <a:rPr lang="ja-JP" altLang="en-US" sz="1800" dirty="0"/>
              <a:t>素子、</a:t>
            </a:r>
            <a:r>
              <a:rPr lang="en-US" altLang="ja-JP" sz="1800" dirty="0"/>
              <a:t>DL</a:t>
            </a:r>
            <a:r>
              <a:rPr lang="ja-JP" altLang="en-US" sz="1800" dirty="0" err="1"/>
              <a:t>、</a:t>
            </a:r>
            <a:r>
              <a:rPr lang="ja-JP" altLang="en-US" sz="1800" dirty="0"/>
              <a:t>ロジックを配置するエリアを指定（エリアサイズの変更＋エリア割当）</a:t>
            </a:r>
            <a:endParaRPr lang="en-US" altLang="ja-JP" sz="1800" dirty="0"/>
          </a:p>
          <a:p>
            <a:pPr marL="800100" lvl="1" indent="-342900">
              <a:buFont typeface="+mj-lt"/>
              <a:buAutoNum type="arabicPeriod"/>
            </a:pPr>
            <a:r>
              <a:rPr lang="ja-JP" altLang="en-US" sz="1800" dirty="0"/>
              <a:t>実装プロセス中に</a:t>
            </a:r>
            <a:r>
              <a:rPr lang="en-US" altLang="ja-JP" sz="1800" dirty="0"/>
              <a:t>LOC</a:t>
            </a:r>
            <a:r>
              <a:rPr lang="ja-JP" altLang="en-US" sz="1800" dirty="0"/>
              <a:t>・</a:t>
            </a:r>
            <a:r>
              <a:rPr lang="en-US" altLang="ja-JP" sz="1800" dirty="0"/>
              <a:t>BEL</a:t>
            </a:r>
            <a:r>
              <a:rPr lang="ja-JP" altLang="en-US" sz="1800" dirty="0"/>
              <a:t>属性を使って、モジュールの配置を固定</a:t>
            </a:r>
            <a:endParaRPr lang="en-US" altLang="ja-JP" sz="1800" dirty="0"/>
          </a:p>
          <a:p>
            <a:pPr marL="800100" lvl="1" indent="-342900">
              <a:buFont typeface="+mj-lt"/>
              <a:buAutoNum type="arabicPeriod"/>
            </a:pPr>
            <a:r>
              <a:rPr lang="en-US" altLang="ja-JP" sz="1800" dirty="0"/>
              <a:t>STA</a:t>
            </a:r>
            <a:r>
              <a:rPr lang="ja-JP" altLang="en-US" sz="1800" dirty="0"/>
              <a:t>（静的タイミング解析）を実行して遅延素子の遅延量を特定、必要に応じて</a:t>
            </a:r>
            <a:r>
              <a:rPr lang="en-US" altLang="ja-JP" sz="1800" dirty="0"/>
              <a:t>RTL</a:t>
            </a:r>
            <a:r>
              <a:rPr lang="ja-JP" altLang="en-US" sz="1800" dirty="0"/>
              <a:t>を修正・遅延素子を挿入</a:t>
            </a:r>
            <a:r>
              <a:rPr lang="en-US" altLang="ja-JP" sz="1800" dirty="0"/>
              <a:t>/</a:t>
            </a:r>
            <a:r>
              <a:rPr lang="ja-JP" altLang="en-US" sz="1800" dirty="0"/>
              <a:t>削除</a:t>
            </a:r>
            <a:endParaRPr lang="en-US" altLang="ja-JP" sz="1800" dirty="0"/>
          </a:p>
          <a:p>
            <a:pPr marL="800100" lvl="1" indent="-342900">
              <a:buFont typeface="+mj-lt"/>
              <a:buAutoNum type="arabicPeriod"/>
            </a:pPr>
            <a:r>
              <a:rPr lang="en-US" altLang="ja-JP" sz="1800" dirty="0"/>
              <a:t>1</a:t>
            </a:r>
            <a:r>
              <a:rPr lang="ja-JP" altLang="en-US" sz="1800" dirty="0"/>
              <a:t>～</a:t>
            </a:r>
            <a:r>
              <a:rPr lang="en-US" altLang="ja-JP" sz="1800" dirty="0"/>
              <a:t>3</a:t>
            </a:r>
            <a:r>
              <a:rPr lang="ja-JP" altLang="en-US" sz="1800" dirty="0"/>
              <a:t>の工程を何度か繰り返す（</a:t>
            </a:r>
            <a:r>
              <a:rPr lang="en-US" altLang="ja-JP" sz="1800" dirty="0"/>
              <a:t>Thunder</a:t>
            </a:r>
            <a:r>
              <a:rPr lang="ja-JP" altLang="en-US" sz="1800" dirty="0" err="1"/>
              <a:t>さんの</a:t>
            </a:r>
            <a:r>
              <a:rPr lang="ja-JP" altLang="en-US" sz="1800" dirty="0"/>
              <a:t>研究ではこの工程を</a:t>
            </a:r>
            <a:r>
              <a:rPr lang="en-US" altLang="ja-JP" sz="1800" dirty="0"/>
              <a:t>3</a:t>
            </a:r>
            <a:r>
              <a:rPr lang="ja-JP" altLang="en-US" sz="1800" dirty="0"/>
              <a:t>回行った）</a:t>
            </a:r>
            <a:endParaRPr lang="en-US" altLang="ja-JP" sz="1800" dirty="0"/>
          </a:p>
          <a:p>
            <a:pPr marL="914400" lvl="2" indent="0">
              <a:buNone/>
            </a:pPr>
            <a:r>
              <a:rPr lang="en-US" altLang="ja-JP" sz="1400" dirty="0" err="1">
                <a:solidFill>
                  <a:srgbClr val="FF0000"/>
                </a:solidFill>
              </a:rPr>
              <a:t>PBlock</a:t>
            </a:r>
            <a:r>
              <a:rPr lang="ja-JP" altLang="en-US" sz="1400" dirty="0">
                <a:solidFill>
                  <a:srgbClr val="FF0000"/>
                </a:solidFill>
              </a:rPr>
              <a:t>     モジュールが使用する</a:t>
            </a:r>
            <a:r>
              <a:rPr lang="en-US" altLang="ja-JP" sz="1400" dirty="0">
                <a:solidFill>
                  <a:srgbClr val="FF0000"/>
                </a:solidFill>
              </a:rPr>
              <a:t>Slice</a:t>
            </a:r>
            <a:r>
              <a:rPr lang="ja-JP" altLang="en-US" sz="1400" dirty="0">
                <a:solidFill>
                  <a:srgbClr val="FF0000"/>
                </a:solidFill>
              </a:rPr>
              <a:t>のエリアを割当・エリアサイズの変更</a:t>
            </a:r>
            <a:endParaRPr lang="en-US" altLang="ja-JP" sz="1400" dirty="0">
              <a:solidFill>
                <a:srgbClr val="FF0000"/>
              </a:solidFill>
            </a:endParaRPr>
          </a:p>
          <a:p>
            <a:pPr marL="914400" lvl="2" indent="0">
              <a:buNone/>
            </a:pPr>
            <a:r>
              <a:rPr lang="en-US" altLang="ja-JP" sz="1400" dirty="0">
                <a:solidFill>
                  <a:srgbClr val="FF0000"/>
                </a:solidFill>
              </a:rPr>
              <a:t>LOC/BEL</a:t>
            </a:r>
            <a:r>
              <a:rPr lang="ja-JP" altLang="en-US" sz="1400" dirty="0">
                <a:solidFill>
                  <a:srgbClr val="FF0000"/>
                </a:solidFill>
              </a:rPr>
              <a:t>  モジュールが使用する</a:t>
            </a:r>
            <a:r>
              <a:rPr lang="en-US" altLang="ja-JP" sz="1400" dirty="0" smtClean="0">
                <a:solidFill>
                  <a:srgbClr val="FF0000"/>
                </a:solidFill>
              </a:rPr>
              <a:t>Slice</a:t>
            </a:r>
            <a:r>
              <a:rPr lang="en-US" altLang="ja-JP" sz="1400" dirty="0">
                <a:solidFill>
                  <a:srgbClr val="FF0000"/>
                </a:solidFill>
              </a:rPr>
              <a:t>/</a:t>
            </a:r>
            <a:r>
              <a:rPr lang="en-US" altLang="ja-JP" sz="1400" dirty="0" smtClean="0">
                <a:solidFill>
                  <a:srgbClr val="FF0000"/>
                </a:solidFill>
              </a:rPr>
              <a:t>LUT</a:t>
            </a:r>
            <a:r>
              <a:rPr lang="ja-JP" altLang="en-US" sz="1400" dirty="0" smtClean="0">
                <a:solidFill>
                  <a:srgbClr val="FF0000"/>
                </a:solidFill>
              </a:rPr>
              <a:t>・</a:t>
            </a:r>
            <a:r>
              <a:rPr lang="en-US" altLang="ja-JP" sz="1400" dirty="0">
                <a:solidFill>
                  <a:srgbClr val="FF0000"/>
                </a:solidFill>
              </a:rPr>
              <a:t>Register</a:t>
            </a:r>
            <a:r>
              <a:rPr lang="ja-JP" altLang="en-US" sz="1400" dirty="0" smtClean="0">
                <a:solidFill>
                  <a:srgbClr val="FF0000"/>
                </a:solidFill>
              </a:rPr>
              <a:t>を</a:t>
            </a:r>
            <a:r>
              <a:rPr lang="ja-JP" altLang="en-US" sz="1400" dirty="0">
                <a:solidFill>
                  <a:srgbClr val="FF0000"/>
                </a:solidFill>
              </a:rPr>
              <a:t>指定（固定）</a:t>
            </a:r>
            <a:endParaRPr lang="en-US" altLang="ja-JP" sz="1400" dirty="0">
              <a:solidFill>
                <a:srgbClr val="FF0000"/>
              </a:solidFill>
            </a:endParaRPr>
          </a:p>
          <a:p>
            <a:pPr marL="914400" lvl="2" indent="0">
              <a:buNone/>
            </a:pPr>
            <a:endParaRPr lang="en-US" altLang="ja-JP" sz="1400" dirty="0"/>
          </a:p>
          <a:p>
            <a:pPr>
              <a:spcBef>
                <a:spcPts val="600"/>
              </a:spcBef>
              <a:buFont typeface="Wingdings" panose="05000000000000000000" pitchFamily="2" charset="2"/>
              <a:buChar char="l"/>
            </a:pPr>
            <a:r>
              <a:rPr lang="ja-JP" altLang="en-US" sz="2200" dirty="0"/>
              <a:t>自分の方法</a:t>
            </a:r>
            <a:endParaRPr lang="en-US" altLang="ja-JP" sz="2200" dirty="0"/>
          </a:p>
          <a:p>
            <a:pPr marL="800100" lvl="1" indent="-342900">
              <a:spcBef>
                <a:spcPts val="600"/>
              </a:spcBef>
              <a:buFont typeface="+mj-lt"/>
              <a:buAutoNum type="arabicPeriod"/>
            </a:pPr>
            <a:r>
              <a:rPr lang="en-US" altLang="ja-JP" sz="1800" dirty="0"/>
              <a:t>LOC/BEL</a:t>
            </a:r>
            <a:r>
              <a:rPr lang="ja-JP" altLang="en-US" sz="1800" dirty="0"/>
              <a:t>属性で</a:t>
            </a:r>
            <a:r>
              <a:rPr lang="en-US" altLang="ja-JP" sz="1800" dirty="0"/>
              <a:t>C</a:t>
            </a:r>
            <a:r>
              <a:rPr lang="ja-JP" altLang="en-US" sz="1800" dirty="0"/>
              <a:t>素子、</a:t>
            </a:r>
            <a:r>
              <a:rPr lang="en-US" altLang="ja-JP" sz="1800" dirty="0"/>
              <a:t>DL</a:t>
            </a:r>
            <a:r>
              <a:rPr lang="ja-JP" altLang="en-US" sz="1800" dirty="0" err="1"/>
              <a:t>、</a:t>
            </a:r>
            <a:r>
              <a:rPr lang="ja-JP" altLang="en-US" sz="1800" dirty="0"/>
              <a:t>ロジック、周辺回路の配置を固定</a:t>
            </a:r>
            <a:endParaRPr lang="en-US" altLang="ja-JP" sz="1800" dirty="0"/>
          </a:p>
          <a:p>
            <a:pPr marL="800100" lvl="1" indent="-342900">
              <a:spcBef>
                <a:spcPts val="600"/>
              </a:spcBef>
              <a:buFont typeface="+mj-lt"/>
              <a:buAutoNum type="arabicPeriod"/>
            </a:pPr>
            <a:endParaRPr lang="en-US" altLang="ja-JP" sz="1800" dirty="0"/>
          </a:p>
          <a:p>
            <a:pPr marL="457200" lvl="1" indent="0">
              <a:spcBef>
                <a:spcPts val="600"/>
              </a:spcBef>
              <a:buNone/>
            </a:pPr>
            <a:r>
              <a:rPr lang="ja-JP" altLang="en-US" sz="1800" dirty="0"/>
              <a:t>その後、</a:t>
            </a:r>
            <a:endParaRPr lang="en-US" altLang="ja-JP" sz="1800" dirty="0"/>
          </a:p>
          <a:p>
            <a:pPr marL="800100" lvl="1" indent="-342900">
              <a:spcBef>
                <a:spcPts val="600"/>
              </a:spcBef>
              <a:buFont typeface="+mj-lt"/>
              <a:buAutoNum type="arabicPeriod"/>
            </a:pPr>
            <a:r>
              <a:rPr lang="ja-JP" altLang="en-US" sz="1800" dirty="0"/>
              <a:t>ロジック段数を削減（パターン変更）</a:t>
            </a:r>
            <a:endParaRPr lang="en-US" altLang="ja-JP" sz="1800" dirty="0"/>
          </a:p>
          <a:p>
            <a:pPr marL="800100" lvl="1" indent="-342900">
              <a:spcBef>
                <a:spcPts val="600"/>
              </a:spcBef>
              <a:buFont typeface="+mj-lt"/>
              <a:buAutoNum type="arabicPeriod"/>
            </a:pPr>
            <a:r>
              <a:rPr lang="ja-JP" altLang="en-US" sz="1800" dirty="0"/>
              <a:t>電力を計測</a:t>
            </a:r>
            <a:endParaRPr lang="en-US" altLang="ja-JP" sz="1800" dirty="0"/>
          </a:p>
          <a:p>
            <a:pPr marL="457200" lvl="1" indent="0">
              <a:buNone/>
            </a:pPr>
            <a:endParaRPr lang="en-US" altLang="ja-JP" sz="1800" dirty="0"/>
          </a:p>
        </p:txBody>
      </p:sp>
      <p:sp>
        <p:nvSpPr>
          <p:cNvPr id="4" name="スライド番号プレースホルダー 3">
            <a:extLst>
              <a:ext uri="{FF2B5EF4-FFF2-40B4-BE49-F238E27FC236}">
                <a16:creationId xmlns:a16="http://schemas.microsoft.com/office/drawing/2014/main" id="{741EC3DB-3E06-4419-A557-86E72F3E20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spTree>
    <p:extLst>
      <p:ext uri="{BB962C8B-B14F-4D97-AF65-F5344CB8AC3E}">
        <p14:creationId xmlns:p14="http://schemas.microsoft.com/office/powerpoint/2010/main" val="1098441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E47BA5-0BED-4E75-AC59-1BF35F18A9C4}"/>
              </a:ext>
            </a:extLst>
          </p:cNvPr>
          <p:cNvSpPr>
            <a:spLocks noGrp="1"/>
          </p:cNvSpPr>
          <p:nvPr>
            <p:ph type="title"/>
          </p:nvPr>
        </p:nvSpPr>
        <p:spPr/>
        <p:txBody>
          <a:bodyPr/>
          <a:lstStyle/>
          <a:p>
            <a:r>
              <a:rPr lang="ja-JP" altLang="en-US" dirty="0"/>
              <a:t>自分の手法の問題点</a:t>
            </a:r>
            <a:endParaRPr kumimoji="1" lang="ja-JP" altLang="en-US" dirty="0"/>
          </a:p>
        </p:txBody>
      </p:sp>
      <p:sp>
        <p:nvSpPr>
          <p:cNvPr id="3" name="コンテンツ プレースホルダー 2">
            <a:extLst>
              <a:ext uri="{FF2B5EF4-FFF2-40B4-BE49-F238E27FC236}">
                <a16:creationId xmlns:a16="http://schemas.microsoft.com/office/drawing/2014/main" id="{78ACDC0F-2168-4226-9F6F-2CC3C86E9680}"/>
              </a:ext>
            </a:extLst>
          </p:cNvPr>
          <p:cNvSpPr>
            <a:spLocks noGrp="1"/>
          </p:cNvSpPr>
          <p:nvPr>
            <p:ph idx="1"/>
          </p:nvPr>
        </p:nvSpPr>
        <p:spPr/>
        <p:txBody>
          <a:bodyPr/>
          <a:lstStyle/>
          <a:p>
            <a:pPr>
              <a:spcBef>
                <a:spcPts val="600"/>
              </a:spcBef>
              <a:buFont typeface="Wingdings" panose="05000000000000000000" pitchFamily="2" charset="2"/>
              <a:buChar char="l"/>
            </a:pPr>
            <a:r>
              <a:rPr lang="ja-JP" altLang="en-US" sz="2400" dirty="0"/>
              <a:t>問題点：インバータ段数削減時にほかのモジュールの配線も変化</a:t>
            </a:r>
            <a:endParaRPr lang="en-US" altLang="ja-JP" sz="2400" dirty="0"/>
          </a:p>
          <a:p>
            <a:pPr marL="0" indent="0">
              <a:spcBef>
                <a:spcPts val="600"/>
              </a:spcBef>
              <a:buNone/>
            </a:pPr>
            <a:r>
              <a:rPr lang="ja-JP" altLang="en-US" sz="2400" dirty="0"/>
              <a:t>                 → </a:t>
            </a:r>
            <a:r>
              <a:rPr lang="en-US" altLang="ja-JP" sz="2400" dirty="0"/>
              <a:t>C</a:t>
            </a:r>
            <a:r>
              <a:rPr lang="ja-JP" altLang="en-US" sz="2400" dirty="0"/>
              <a:t>素子周辺の配線も変化し、遅延量が変化する可能性</a:t>
            </a:r>
            <a:endParaRPr lang="en-US" altLang="ja-JP" sz="2400" dirty="0"/>
          </a:p>
          <a:p>
            <a:pPr lvl="1">
              <a:spcBef>
                <a:spcPts val="600"/>
              </a:spcBef>
            </a:pPr>
            <a:r>
              <a:rPr lang="ja-JP" altLang="en-US" sz="1800" dirty="0"/>
              <a:t>各回路規模パターンで</a:t>
            </a:r>
            <a:r>
              <a:rPr lang="en-US" altLang="ja-JP" sz="1800" dirty="0"/>
              <a:t>C</a:t>
            </a:r>
            <a:r>
              <a:rPr lang="ja-JP" altLang="en-US" sz="1800" dirty="0"/>
              <a:t>素子の遅延量が異なるのは、実験中は各回路パターンの条件を揃えるという観点では望ましくない</a:t>
            </a:r>
            <a:endParaRPr lang="en-US" altLang="ja-JP" sz="1800" dirty="0"/>
          </a:p>
          <a:p>
            <a:pPr marL="457200" lvl="1" indent="0">
              <a:spcBef>
                <a:spcPts val="600"/>
              </a:spcBef>
              <a:buNone/>
            </a:pPr>
            <a:r>
              <a:rPr lang="ja-JP" altLang="en-US" sz="1800" dirty="0"/>
              <a:t> （実際は、パイプライン回路へのデータ挿入が</a:t>
            </a:r>
            <a:r>
              <a:rPr lang="en-US" altLang="ja-JP" sz="1800" dirty="0"/>
              <a:t>50ns</a:t>
            </a:r>
            <a:r>
              <a:rPr lang="ja-JP" altLang="en-US" sz="1800" dirty="0"/>
              <a:t>毎なので、遅延量が多少変化しても問題は小さい？）</a:t>
            </a:r>
            <a:endParaRPr lang="en-US" altLang="ja-JP" sz="1800" dirty="0"/>
          </a:p>
          <a:p>
            <a:pPr marL="457200" lvl="1" indent="0">
              <a:spcBef>
                <a:spcPts val="600"/>
              </a:spcBef>
              <a:buNone/>
            </a:pPr>
            <a:r>
              <a:rPr lang="ja-JP" altLang="en-US" sz="1800" dirty="0"/>
              <a:t>    </a:t>
            </a:r>
            <a:endParaRPr lang="en-US" altLang="ja-JP" sz="1800" dirty="0"/>
          </a:p>
          <a:p>
            <a:pPr>
              <a:spcBef>
                <a:spcPts val="600"/>
              </a:spcBef>
              <a:buFont typeface="Wingdings" panose="05000000000000000000" pitchFamily="2" charset="2"/>
              <a:buChar char="l"/>
            </a:pPr>
            <a:r>
              <a:rPr lang="ja-JP" altLang="en-US" sz="2400" dirty="0"/>
              <a:t>対応策（</a:t>
            </a:r>
            <a:r>
              <a:rPr lang="en-US" altLang="ja-JP" sz="2400" dirty="0"/>
              <a:t>Thunder</a:t>
            </a:r>
            <a:r>
              <a:rPr lang="ja-JP" altLang="en-US" sz="2400" dirty="0" err="1"/>
              <a:t>さんの</a:t>
            </a:r>
            <a:r>
              <a:rPr lang="ja-JP" altLang="en-US" sz="2400" dirty="0"/>
              <a:t>手法も参考に）</a:t>
            </a:r>
            <a:endParaRPr lang="en-US" altLang="ja-JP" sz="2400" dirty="0"/>
          </a:p>
          <a:p>
            <a:pPr lvl="1">
              <a:spcBef>
                <a:spcPts val="600"/>
              </a:spcBef>
            </a:pPr>
            <a:r>
              <a:rPr lang="en-US" altLang="ja-JP" sz="1800" dirty="0" err="1"/>
              <a:t>Pblock</a:t>
            </a:r>
            <a:r>
              <a:rPr lang="ja-JP" altLang="en-US" sz="1800" dirty="0"/>
              <a:t>属性を用いて</a:t>
            </a:r>
            <a:r>
              <a:rPr lang="en-US" altLang="ja-JP" sz="1800" dirty="0"/>
              <a:t>C</a:t>
            </a:r>
            <a:r>
              <a:rPr lang="ja-JP" altLang="en-US" sz="1800" dirty="0"/>
              <a:t>素子</a:t>
            </a:r>
            <a:r>
              <a:rPr lang="en-US" altLang="ja-JP" sz="1800" dirty="0"/>
              <a:t>/DL</a:t>
            </a:r>
            <a:r>
              <a:rPr lang="ja-JP" altLang="en-US" sz="1800" dirty="0"/>
              <a:t>・ロジック（インバータ）</a:t>
            </a:r>
            <a:r>
              <a:rPr lang="en-US" altLang="ja-JP" sz="1800" dirty="0"/>
              <a:t>/</a:t>
            </a:r>
            <a:r>
              <a:rPr lang="ja-JP" altLang="en-US" sz="1800" dirty="0"/>
              <a:t>周辺回路の配置エリアを指定</a:t>
            </a:r>
            <a:endParaRPr lang="en-US" altLang="ja-JP" sz="1800" dirty="0"/>
          </a:p>
          <a:p>
            <a:pPr marL="457200" lvl="1" indent="0">
              <a:spcBef>
                <a:spcPts val="600"/>
              </a:spcBef>
              <a:buNone/>
            </a:pPr>
            <a:r>
              <a:rPr lang="ja-JP" altLang="en-US" sz="1800" dirty="0"/>
              <a:t>    →ロジック（インバータ）と</a:t>
            </a:r>
            <a:r>
              <a:rPr lang="en-US" altLang="ja-JP" sz="1800" dirty="0"/>
              <a:t>C</a:t>
            </a:r>
            <a:r>
              <a:rPr lang="ja-JP" altLang="en-US" sz="1800" dirty="0"/>
              <a:t>素子のエリアを分けることで、インバータの段数を減らして配線の変化が</a:t>
            </a:r>
            <a:r>
              <a:rPr lang="en-US" altLang="ja-JP" sz="1800" dirty="0"/>
              <a:t>	</a:t>
            </a:r>
            <a:r>
              <a:rPr lang="ja-JP" altLang="en-US" sz="1800" dirty="0"/>
              <a:t>あったとしても、</a:t>
            </a:r>
            <a:r>
              <a:rPr lang="en-US" altLang="ja-JP" sz="1800" dirty="0"/>
              <a:t>C</a:t>
            </a:r>
            <a:r>
              <a:rPr lang="ja-JP" altLang="en-US" sz="1800" dirty="0"/>
              <a:t>素子間の配線は変わらない（</a:t>
            </a:r>
            <a:r>
              <a:rPr lang="en-US" altLang="ja-JP" sz="1800" dirty="0"/>
              <a:t>or</a:t>
            </a:r>
            <a:r>
              <a:rPr lang="ja-JP" altLang="en-US" sz="1800" dirty="0"/>
              <a:t>適用前よりも影響小）</a:t>
            </a:r>
            <a:endParaRPr lang="en-US" altLang="ja-JP" sz="1800" dirty="0"/>
          </a:p>
          <a:p>
            <a:pPr lvl="1">
              <a:spcBef>
                <a:spcPts val="600"/>
              </a:spcBef>
            </a:pPr>
            <a:r>
              <a:rPr lang="ja-JP" altLang="en-US" sz="1800" dirty="0"/>
              <a:t>その後、</a:t>
            </a:r>
            <a:r>
              <a:rPr lang="en-US" altLang="ja-JP" sz="1800" dirty="0"/>
              <a:t> LOC/BEL</a:t>
            </a:r>
            <a:r>
              <a:rPr lang="ja-JP" altLang="en-US" sz="1800" dirty="0"/>
              <a:t>配置の固定</a:t>
            </a:r>
            <a:endParaRPr lang="en-US" altLang="ja-JP" sz="1800" dirty="0"/>
          </a:p>
          <a:p>
            <a:pPr marL="457200" lvl="1" indent="0">
              <a:spcBef>
                <a:spcPts val="600"/>
              </a:spcBef>
              <a:buNone/>
            </a:pPr>
            <a:endParaRPr lang="en-US" altLang="ja-JP" sz="1800" dirty="0"/>
          </a:p>
          <a:p>
            <a:endParaRPr kumimoji="1" lang="ja-JP" altLang="en-US" dirty="0"/>
          </a:p>
        </p:txBody>
      </p:sp>
      <p:sp>
        <p:nvSpPr>
          <p:cNvPr id="4" name="スライド番号プレースホルダー 3">
            <a:extLst>
              <a:ext uri="{FF2B5EF4-FFF2-40B4-BE49-F238E27FC236}">
                <a16:creationId xmlns:a16="http://schemas.microsoft.com/office/drawing/2014/main" id="{414669C0-DCF6-41E5-9DB5-B56C914B54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spTree>
    <p:extLst>
      <p:ext uri="{BB962C8B-B14F-4D97-AF65-F5344CB8AC3E}">
        <p14:creationId xmlns:p14="http://schemas.microsoft.com/office/powerpoint/2010/main" val="2529959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304B4B-CF5E-45F4-9390-3E6ADDA77334}"/>
              </a:ext>
            </a:extLst>
          </p:cNvPr>
          <p:cNvSpPr>
            <a:spLocks noGrp="1"/>
          </p:cNvSpPr>
          <p:nvPr>
            <p:ph type="title"/>
          </p:nvPr>
        </p:nvSpPr>
        <p:spPr/>
        <p:txBody>
          <a:bodyPr/>
          <a:lstStyle/>
          <a:p>
            <a:r>
              <a:rPr kumimoji="1" lang="ja-JP" altLang="en-US" dirty="0"/>
              <a:t>採用した回路固定方法</a:t>
            </a:r>
          </a:p>
        </p:txBody>
      </p:sp>
      <p:sp>
        <p:nvSpPr>
          <p:cNvPr id="3" name="コンテンツ プレースホルダー 2">
            <a:extLst>
              <a:ext uri="{FF2B5EF4-FFF2-40B4-BE49-F238E27FC236}">
                <a16:creationId xmlns:a16="http://schemas.microsoft.com/office/drawing/2014/main" id="{112CC571-4302-49D6-8B62-5DC05AC69DE9}"/>
              </a:ext>
            </a:extLst>
          </p:cNvPr>
          <p:cNvSpPr>
            <a:spLocks noGrp="1"/>
          </p:cNvSpPr>
          <p:nvPr>
            <p:ph idx="1"/>
          </p:nvPr>
        </p:nvSpPr>
        <p:spPr>
          <a:xfrm>
            <a:off x="329184" y="770401"/>
            <a:ext cx="11530720" cy="5971775"/>
          </a:xfrm>
        </p:spPr>
        <p:txBody>
          <a:bodyPr>
            <a:normAutofit/>
          </a:bodyPr>
          <a:lstStyle/>
          <a:p>
            <a:pPr>
              <a:spcBef>
                <a:spcPts val="600"/>
              </a:spcBef>
            </a:pPr>
            <a:r>
              <a:rPr lang="ja-JP" altLang="en-US" dirty="0"/>
              <a:t>回路固定理由</a:t>
            </a:r>
            <a:endParaRPr lang="en-US" altLang="ja-JP" dirty="0"/>
          </a:p>
          <a:p>
            <a:pPr lvl="1">
              <a:spcBef>
                <a:spcPts val="600"/>
              </a:spcBef>
              <a:buFont typeface="Wingdings" panose="05000000000000000000" pitchFamily="2" charset="2"/>
              <a:buChar char="Ø"/>
            </a:pPr>
            <a:r>
              <a:rPr lang="ja-JP" altLang="en-US" sz="2000" dirty="0"/>
              <a:t>回路パターン間で配置が異なると結果へのノイズの原因に</a:t>
            </a:r>
            <a:endParaRPr lang="en-US" altLang="ja-JP" sz="2000" dirty="0"/>
          </a:p>
          <a:p>
            <a:pPr lvl="1">
              <a:spcBef>
                <a:spcPts val="600"/>
              </a:spcBef>
              <a:buFont typeface="Wingdings" panose="05000000000000000000" pitchFamily="2" charset="2"/>
              <a:buChar char="Ø"/>
            </a:pPr>
            <a:r>
              <a:rPr lang="ja-JP" altLang="en-US" sz="2000" dirty="0"/>
              <a:t>回路の配置を固定することでノイズを削減</a:t>
            </a:r>
            <a:endParaRPr lang="en-US" altLang="ja-JP" sz="2000" dirty="0"/>
          </a:p>
          <a:p>
            <a:pPr>
              <a:spcBef>
                <a:spcPts val="600"/>
              </a:spcBef>
            </a:pPr>
            <a:r>
              <a:rPr lang="ja-JP" altLang="en-US" dirty="0"/>
              <a:t>固定作業の流れ</a:t>
            </a:r>
            <a:endParaRPr lang="en-US" altLang="ja-JP" dirty="0"/>
          </a:p>
          <a:p>
            <a:pPr marL="914400" lvl="1" indent="-457200">
              <a:spcBef>
                <a:spcPts val="600"/>
              </a:spcBef>
              <a:buFont typeface="+mj-lt"/>
              <a:buAutoNum type="arabicPeriod"/>
            </a:pPr>
            <a:r>
              <a:rPr lang="en-US" altLang="ja-JP" dirty="0" err="1"/>
              <a:t>Pblock</a:t>
            </a:r>
            <a:r>
              <a:rPr lang="ja-JP" altLang="en-US" dirty="0"/>
              <a:t>属性で</a:t>
            </a:r>
            <a:r>
              <a:rPr lang="en-US" altLang="ja-JP" dirty="0"/>
              <a:t>C</a:t>
            </a:r>
            <a:r>
              <a:rPr lang="ja-JP" altLang="en-US" dirty="0"/>
              <a:t>素子</a:t>
            </a:r>
            <a:r>
              <a:rPr lang="en-US" altLang="ja-JP" dirty="0"/>
              <a:t>/DL</a:t>
            </a:r>
            <a:r>
              <a:rPr lang="ja-JP" altLang="en-US" dirty="0"/>
              <a:t>・ロジック（インバータ）</a:t>
            </a:r>
            <a:r>
              <a:rPr lang="en-US" altLang="ja-JP" dirty="0"/>
              <a:t>/</a:t>
            </a:r>
            <a:r>
              <a:rPr lang="ja-JP" altLang="en-US" dirty="0"/>
              <a:t>周辺回路の配置エリアを区切る</a:t>
            </a:r>
            <a:endParaRPr lang="en-US" altLang="ja-JP" dirty="0"/>
          </a:p>
          <a:p>
            <a:pPr lvl="2">
              <a:spcBef>
                <a:spcPts val="600"/>
              </a:spcBef>
            </a:pPr>
            <a:r>
              <a:rPr lang="ja-JP" altLang="en-US" dirty="0"/>
              <a:t>ロジックと</a:t>
            </a:r>
            <a:r>
              <a:rPr lang="en-US" altLang="ja-JP" dirty="0"/>
              <a:t>C</a:t>
            </a:r>
            <a:r>
              <a:rPr lang="ja-JP" altLang="en-US" dirty="0"/>
              <a:t>素子のエリアを分ける：</a:t>
            </a:r>
            <a:endParaRPr lang="en-US" altLang="ja-JP" dirty="0"/>
          </a:p>
          <a:p>
            <a:pPr marL="914400" lvl="2" indent="0">
              <a:spcBef>
                <a:spcPts val="600"/>
              </a:spcBef>
              <a:buNone/>
            </a:pPr>
            <a:r>
              <a:rPr lang="ja-JP" altLang="en-US" dirty="0"/>
              <a:t>   回路規模パターンを変える際にロジックの段数を減らす</a:t>
            </a:r>
            <a:endParaRPr lang="en-US" altLang="ja-JP" dirty="0"/>
          </a:p>
          <a:p>
            <a:pPr marL="914400" lvl="2" indent="0">
              <a:spcBef>
                <a:spcPts val="600"/>
              </a:spcBef>
              <a:buNone/>
            </a:pPr>
            <a:r>
              <a:rPr lang="ja-JP" altLang="en-US" dirty="0"/>
              <a:t>   この時、周囲の配線が変化する可能性</a:t>
            </a:r>
            <a:endParaRPr lang="en-US" altLang="ja-JP" dirty="0"/>
          </a:p>
          <a:p>
            <a:pPr marL="914400" lvl="2" indent="0">
              <a:spcBef>
                <a:spcPts val="600"/>
              </a:spcBef>
              <a:buNone/>
            </a:pPr>
            <a:r>
              <a:rPr lang="ja-JP" altLang="en-US" dirty="0"/>
              <a:t>   </a:t>
            </a:r>
            <a:r>
              <a:rPr lang="en-US" altLang="ja-JP" dirty="0"/>
              <a:t>C</a:t>
            </a:r>
            <a:r>
              <a:rPr lang="ja-JP" altLang="en-US" dirty="0"/>
              <a:t>素子間の配線が変化すると遅延時間に影響</a:t>
            </a:r>
            <a:endParaRPr lang="en-US" altLang="ja-JP" dirty="0"/>
          </a:p>
          <a:p>
            <a:pPr marL="914400" lvl="2" indent="0">
              <a:spcBef>
                <a:spcPts val="600"/>
              </a:spcBef>
              <a:buNone/>
            </a:pPr>
            <a:r>
              <a:rPr lang="ja-JP" altLang="en-US" dirty="0"/>
              <a:t>   → 回路パターン間でスループットが異なってしまう可能性（好ましくない）</a:t>
            </a:r>
            <a:endParaRPr lang="en-US" altLang="ja-JP" dirty="0"/>
          </a:p>
          <a:p>
            <a:pPr marL="914400" lvl="2" indent="0">
              <a:spcBef>
                <a:spcPts val="600"/>
              </a:spcBef>
              <a:buNone/>
            </a:pPr>
            <a:endParaRPr lang="en-US" altLang="ja-JP" dirty="0"/>
          </a:p>
          <a:p>
            <a:pPr lvl="2">
              <a:spcBef>
                <a:spcPts val="600"/>
              </a:spcBef>
            </a:pPr>
            <a:r>
              <a:rPr lang="en-US" altLang="ja-JP" dirty="0" err="1"/>
              <a:t>Pblock</a:t>
            </a:r>
            <a:r>
              <a:rPr lang="ja-JP" altLang="en-US" dirty="0"/>
              <a:t>によるエリア分けによりロジック周辺の配線が変化しても、</a:t>
            </a:r>
            <a:endParaRPr lang="en-US" altLang="ja-JP" dirty="0"/>
          </a:p>
          <a:p>
            <a:pPr marL="914400" lvl="2" indent="0">
              <a:spcBef>
                <a:spcPts val="600"/>
              </a:spcBef>
              <a:buNone/>
            </a:pPr>
            <a:r>
              <a:rPr lang="ja-JP" altLang="en-US" dirty="0"/>
              <a:t>   </a:t>
            </a:r>
            <a:r>
              <a:rPr lang="en-US" altLang="ja-JP" dirty="0"/>
              <a:t>C</a:t>
            </a:r>
            <a:r>
              <a:rPr lang="ja-JP" altLang="en-US" dirty="0"/>
              <a:t>素子間の配線は変わらない（</a:t>
            </a:r>
            <a:r>
              <a:rPr lang="en-US" altLang="ja-JP" dirty="0"/>
              <a:t>or</a:t>
            </a:r>
            <a:r>
              <a:rPr lang="ja-JP" altLang="en-US" dirty="0"/>
              <a:t>適用前よりも影響小）</a:t>
            </a:r>
            <a:endParaRPr lang="en-US" altLang="ja-JP" dirty="0"/>
          </a:p>
          <a:p>
            <a:pPr marL="914400" lvl="1" indent="-457200">
              <a:spcBef>
                <a:spcPts val="600"/>
              </a:spcBef>
              <a:buFont typeface="+mj-lt"/>
              <a:buAutoNum type="arabicPeriod"/>
            </a:pPr>
            <a:r>
              <a:rPr lang="ja-JP" altLang="en-US" dirty="0"/>
              <a:t>その後、</a:t>
            </a:r>
            <a:r>
              <a:rPr lang="en-US" altLang="ja-JP" dirty="0"/>
              <a:t> LOC/BEL</a:t>
            </a:r>
            <a:r>
              <a:rPr lang="ja-JP" altLang="en-US" dirty="0"/>
              <a:t>属性で配置を固定</a:t>
            </a:r>
            <a:endParaRPr lang="en-US" altLang="ja-JP" dirty="0"/>
          </a:p>
        </p:txBody>
      </p:sp>
      <p:sp>
        <p:nvSpPr>
          <p:cNvPr id="4" name="スライド番号プレースホルダー 3">
            <a:extLst>
              <a:ext uri="{FF2B5EF4-FFF2-40B4-BE49-F238E27FC236}">
                <a16:creationId xmlns:a16="http://schemas.microsoft.com/office/drawing/2014/main" id="{EFA4AE89-C5DA-488D-AEDF-1253D1B210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spTree>
    <p:extLst>
      <p:ext uri="{BB962C8B-B14F-4D97-AF65-F5344CB8AC3E}">
        <p14:creationId xmlns:p14="http://schemas.microsoft.com/office/powerpoint/2010/main" val="8543731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7799B1-B306-400B-936E-A598A13CE175}"/>
              </a:ext>
            </a:extLst>
          </p:cNvPr>
          <p:cNvSpPr>
            <a:spLocks noGrp="1"/>
          </p:cNvSpPr>
          <p:nvPr>
            <p:ph type="title"/>
          </p:nvPr>
        </p:nvSpPr>
        <p:spPr/>
        <p:txBody>
          <a:bodyPr>
            <a:normAutofit/>
          </a:bodyPr>
          <a:lstStyle/>
          <a:p>
            <a:r>
              <a:rPr kumimoji="1" lang="en-US" altLang="ja-JP" dirty="0" err="1"/>
              <a:t>Pblock</a:t>
            </a:r>
            <a:r>
              <a:rPr lang="ja-JP" altLang="en-US" dirty="0"/>
              <a:t>属性使用方法１</a:t>
            </a:r>
            <a:endParaRPr kumimoji="1" lang="ja-JP" altLang="en-US" dirty="0"/>
          </a:p>
        </p:txBody>
      </p:sp>
      <p:sp>
        <p:nvSpPr>
          <p:cNvPr id="4" name="スライド番号プレースホルダー 3">
            <a:extLst>
              <a:ext uri="{FF2B5EF4-FFF2-40B4-BE49-F238E27FC236}">
                <a16:creationId xmlns:a16="http://schemas.microsoft.com/office/drawing/2014/main" id="{B69AAF4F-348A-42A2-99AF-CA8F795E55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sp>
        <p:nvSpPr>
          <p:cNvPr id="5" name="テキスト ボックス 4">
            <a:extLst>
              <a:ext uri="{FF2B5EF4-FFF2-40B4-BE49-F238E27FC236}">
                <a16:creationId xmlns:a16="http://schemas.microsoft.com/office/drawing/2014/main" id="{4F70E839-499B-4941-A4CB-6662025EEFF9}"/>
              </a:ext>
            </a:extLst>
          </p:cNvPr>
          <p:cNvSpPr txBox="1"/>
          <p:nvPr/>
        </p:nvSpPr>
        <p:spPr>
          <a:xfrm>
            <a:off x="140825" y="836286"/>
            <a:ext cx="11239018" cy="646331"/>
          </a:xfrm>
          <a:prstGeom prst="rect">
            <a:avLst/>
          </a:prstGeom>
          <a:noFill/>
        </p:spPr>
        <p:txBody>
          <a:bodyPr wrap="square" rtlCol="0">
            <a:spAutoFit/>
          </a:bodyPr>
          <a:lstStyle/>
          <a:p>
            <a:r>
              <a:rPr kumimoji="1" lang="en-US" altLang="ja-JP" dirty="0"/>
              <a:t>Implementation</a:t>
            </a:r>
            <a:r>
              <a:rPr kumimoji="1" lang="ja-JP" altLang="en-US" dirty="0"/>
              <a:t>後</a:t>
            </a:r>
            <a:endParaRPr kumimoji="1" lang="en-US" altLang="ja-JP" dirty="0"/>
          </a:p>
          <a:p>
            <a:r>
              <a:rPr lang="en-US" altLang="ja-JP" dirty="0"/>
              <a:t>Implemented Design</a:t>
            </a:r>
            <a:r>
              <a:rPr lang="ja-JP" altLang="en-US" dirty="0"/>
              <a:t>から</a:t>
            </a:r>
            <a:r>
              <a:rPr lang="en-US" altLang="ja-JP" dirty="0"/>
              <a:t>GUI</a:t>
            </a:r>
            <a:r>
              <a:rPr lang="ja-JP" altLang="en-US" dirty="0"/>
              <a:t>で設定</a:t>
            </a:r>
            <a:endParaRPr kumimoji="1" lang="ja-JP" altLang="en-US" dirty="0"/>
          </a:p>
        </p:txBody>
      </p:sp>
      <p:pic>
        <p:nvPicPr>
          <p:cNvPr id="6" name="図 5">
            <a:extLst>
              <a:ext uri="{FF2B5EF4-FFF2-40B4-BE49-F238E27FC236}">
                <a16:creationId xmlns:a16="http://schemas.microsoft.com/office/drawing/2014/main" id="{76FC8F06-2786-420E-8A8F-6EA18C8B4B7A}"/>
              </a:ext>
            </a:extLst>
          </p:cNvPr>
          <p:cNvPicPr>
            <a:picLocks noChangeAspect="1"/>
          </p:cNvPicPr>
          <p:nvPr/>
        </p:nvPicPr>
        <p:blipFill rotWithShape="1">
          <a:blip r:embed="rId2"/>
          <a:srcRect r="28766"/>
          <a:stretch/>
        </p:blipFill>
        <p:spPr>
          <a:xfrm>
            <a:off x="476492" y="1796717"/>
            <a:ext cx="4173388" cy="1476581"/>
          </a:xfrm>
          <a:prstGeom prst="rect">
            <a:avLst/>
          </a:prstGeom>
        </p:spPr>
      </p:pic>
      <p:pic>
        <p:nvPicPr>
          <p:cNvPr id="7" name="図 6">
            <a:extLst>
              <a:ext uri="{FF2B5EF4-FFF2-40B4-BE49-F238E27FC236}">
                <a16:creationId xmlns:a16="http://schemas.microsoft.com/office/drawing/2014/main" id="{67ED62EE-3E87-443D-B29B-D7D29759E190}"/>
              </a:ext>
            </a:extLst>
          </p:cNvPr>
          <p:cNvPicPr>
            <a:picLocks noChangeAspect="1"/>
          </p:cNvPicPr>
          <p:nvPr/>
        </p:nvPicPr>
        <p:blipFill rotWithShape="1">
          <a:blip r:embed="rId3"/>
          <a:srcRect b="26269"/>
          <a:stretch/>
        </p:blipFill>
        <p:spPr>
          <a:xfrm>
            <a:off x="5455428" y="1482617"/>
            <a:ext cx="4173388" cy="2103942"/>
          </a:xfrm>
          <a:prstGeom prst="rect">
            <a:avLst/>
          </a:prstGeom>
        </p:spPr>
      </p:pic>
      <p:sp>
        <p:nvSpPr>
          <p:cNvPr id="12" name="矢印: 右 11">
            <a:extLst>
              <a:ext uri="{FF2B5EF4-FFF2-40B4-BE49-F238E27FC236}">
                <a16:creationId xmlns:a16="http://schemas.microsoft.com/office/drawing/2014/main" id="{E776D7B1-F709-420D-9F5F-955E7D568752}"/>
              </a:ext>
            </a:extLst>
          </p:cNvPr>
          <p:cNvSpPr/>
          <p:nvPr/>
        </p:nvSpPr>
        <p:spPr>
          <a:xfrm>
            <a:off x="4782846" y="2220488"/>
            <a:ext cx="347241" cy="6463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EBE43F7B-1F4C-4A19-BD65-EB9ED799F484}"/>
              </a:ext>
            </a:extLst>
          </p:cNvPr>
          <p:cNvPicPr>
            <a:picLocks noChangeAspect="1"/>
          </p:cNvPicPr>
          <p:nvPr/>
        </p:nvPicPr>
        <p:blipFill rotWithShape="1">
          <a:blip r:embed="rId4"/>
          <a:srcRect b="23819"/>
          <a:stretch/>
        </p:blipFill>
        <p:spPr>
          <a:xfrm>
            <a:off x="5455428" y="4132162"/>
            <a:ext cx="4461883" cy="2639028"/>
          </a:xfrm>
          <a:prstGeom prst="rect">
            <a:avLst/>
          </a:prstGeom>
        </p:spPr>
      </p:pic>
      <p:pic>
        <p:nvPicPr>
          <p:cNvPr id="14" name="図 13">
            <a:extLst>
              <a:ext uri="{FF2B5EF4-FFF2-40B4-BE49-F238E27FC236}">
                <a16:creationId xmlns:a16="http://schemas.microsoft.com/office/drawing/2014/main" id="{2CA6322F-054F-48A0-B051-403784ECAF5D}"/>
              </a:ext>
            </a:extLst>
          </p:cNvPr>
          <p:cNvPicPr>
            <a:picLocks noChangeAspect="1"/>
          </p:cNvPicPr>
          <p:nvPr/>
        </p:nvPicPr>
        <p:blipFill>
          <a:blip r:embed="rId5"/>
          <a:stretch>
            <a:fillRect/>
          </a:stretch>
        </p:blipFill>
        <p:spPr>
          <a:xfrm>
            <a:off x="956699" y="3881789"/>
            <a:ext cx="3693181" cy="2889401"/>
          </a:xfrm>
          <a:prstGeom prst="rect">
            <a:avLst/>
          </a:prstGeom>
        </p:spPr>
      </p:pic>
      <p:sp>
        <p:nvSpPr>
          <p:cNvPr id="15" name="矢印: 右 14">
            <a:extLst>
              <a:ext uri="{FF2B5EF4-FFF2-40B4-BE49-F238E27FC236}">
                <a16:creationId xmlns:a16="http://schemas.microsoft.com/office/drawing/2014/main" id="{45095451-C1B2-4B33-9F39-0354652C155C}"/>
              </a:ext>
            </a:extLst>
          </p:cNvPr>
          <p:cNvSpPr/>
          <p:nvPr/>
        </p:nvSpPr>
        <p:spPr>
          <a:xfrm>
            <a:off x="4815068" y="5003323"/>
            <a:ext cx="347241" cy="6463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コネクタ: カギ線 16">
            <a:extLst>
              <a:ext uri="{FF2B5EF4-FFF2-40B4-BE49-F238E27FC236}">
                <a16:creationId xmlns:a16="http://schemas.microsoft.com/office/drawing/2014/main" id="{ED8064E5-A747-46DC-A0C3-B6916C6B5ED6}"/>
              </a:ext>
            </a:extLst>
          </p:cNvPr>
          <p:cNvCxnSpPr>
            <a:stCxn id="7" idx="3"/>
            <a:endCxn id="14" idx="1"/>
          </p:cNvCxnSpPr>
          <p:nvPr/>
        </p:nvCxnSpPr>
        <p:spPr>
          <a:xfrm flipH="1">
            <a:off x="956699" y="2534588"/>
            <a:ext cx="8672117" cy="2791902"/>
          </a:xfrm>
          <a:prstGeom prst="bentConnector5">
            <a:avLst>
              <a:gd name="adj1" fmla="val -2636"/>
              <a:gd name="adj2" fmla="val 42967"/>
              <a:gd name="adj3" fmla="val 102636"/>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7086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7799B1-B306-400B-936E-A598A13CE175}"/>
              </a:ext>
            </a:extLst>
          </p:cNvPr>
          <p:cNvSpPr>
            <a:spLocks noGrp="1"/>
          </p:cNvSpPr>
          <p:nvPr>
            <p:ph type="title"/>
          </p:nvPr>
        </p:nvSpPr>
        <p:spPr/>
        <p:txBody>
          <a:bodyPr>
            <a:normAutofit/>
          </a:bodyPr>
          <a:lstStyle/>
          <a:p>
            <a:r>
              <a:rPr lang="en-US" altLang="ja-JP" dirty="0" err="1"/>
              <a:t>Pblock</a:t>
            </a:r>
            <a:r>
              <a:rPr lang="ja-JP" altLang="en-US" dirty="0"/>
              <a:t>属性使用方法２</a:t>
            </a:r>
            <a:endParaRPr kumimoji="1" lang="ja-JP" altLang="en-US" dirty="0"/>
          </a:p>
        </p:txBody>
      </p:sp>
      <p:sp>
        <p:nvSpPr>
          <p:cNvPr id="4" name="スライド番号プレースホルダー 3">
            <a:extLst>
              <a:ext uri="{FF2B5EF4-FFF2-40B4-BE49-F238E27FC236}">
                <a16:creationId xmlns:a16="http://schemas.microsoft.com/office/drawing/2014/main" id="{B69AAF4F-348A-42A2-99AF-CA8F795E55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pic>
        <p:nvPicPr>
          <p:cNvPr id="8" name="図 7">
            <a:extLst>
              <a:ext uri="{FF2B5EF4-FFF2-40B4-BE49-F238E27FC236}">
                <a16:creationId xmlns:a16="http://schemas.microsoft.com/office/drawing/2014/main" id="{10D86B61-3A0A-4B6E-A232-8E3161EFB36C}"/>
              </a:ext>
            </a:extLst>
          </p:cNvPr>
          <p:cNvPicPr>
            <a:picLocks noChangeAspect="1"/>
          </p:cNvPicPr>
          <p:nvPr/>
        </p:nvPicPr>
        <p:blipFill rotWithShape="1">
          <a:blip r:embed="rId2"/>
          <a:srcRect l="29576" r="24099"/>
          <a:stretch/>
        </p:blipFill>
        <p:spPr>
          <a:xfrm>
            <a:off x="6619112" y="1297150"/>
            <a:ext cx="4688531" cy="4718536"/>
          </a:xfrm>
          <a:prstGeom prst="rect">
            <a:avLst/>
          </a:prstGeom>
        </p:spPr>
      </p:pic>
      <p:pic>
        <p:nvPicPr>
          <p:cNvPr id="9" name="図 8">
            <a:extLst>
              <a:ext uri="{FF2B5EF4-FFF2-40B4-BE49-F238E27FC236}">
                <a16:creationId xmlns:a16="http://schemas.microsoft.com/office/drawing/2014/main" id="{DE178D2C-EF49-4AA7-8F67-A8BDAD8F1CF5}"/>
              </a:ext>
            </a:extLst>
          </p:cNvPr>
          <p:cNvPicPr>
            <a:picLocks noChangeAspect="1"/>
          </p:cNvPicPr>
          <p:nvPr/>
        </p:nvPicPr>
        <p:blipFill rotWithShape="1">
          <a:blip r:embed="rId3"/>
          <a:srcRect r="31838"/>
          <a:stretch/>
        </p:blipFill>
        <p:spPr>
          <a:xfrm>
            <a:off x="444221" y="2426023"/>
            <a:ext cx="5369982" cy="2800741"/>
          </a:xfrm>
          <a:prstGeom prst="rect">
            <a:avLst/>
          </a:prstGeom>
        </p:spPr>
      </p:pic>
      <p:pic>
        <p:nvPicPr>
          <p:cNvPr id="10" name="図 9">
            <a:extLst>
              <a:ext uri="{FF2B5EF4-FFF2-40B4-BE49-F238E27FC236}">
                <a16:creationId xmlns:a16="http://schemas.microsoft.com/office/drawing/2014/main" id="{509E65F4-11B6-4F17-896E-6FC8E7E673FA}"/>
              </a:ext>
            </a:extLst>
          </p:cNvPr>
          <p:cNvPicPr>
            <a:picLocks noChangeAspect="1"/>
          </p:cNvPicPr>
          <p:nvPr/>
        </p:nvPicPr>
        <p:blipFill rotWithShape="1">
          <a:blip r:embed="rId4"/>
          <a:srcRect r="30235"/>
          <a:stretch/>
        </p:blipFill>
        <p:spPr>
          <a:xfrm>
            <a:off x="444221" y="3691262"/>
            <a:ext cx="5369982" cy="2324424"/>
          </a:xfrm>
          <a:prstGeom prst="rect">
            <a:avLst/>
          </a:prstGeom>
        </p:spPr>
      </p:pic>
      <p:sp>
        <p:nvSpPr>
          <p:cNvPr id="3" name="テキスト ボックス 2">
            <a:extLst>
              <a:ext uri="{FF2B5EF4-FFF2-40B4-BE49-F238E27FC236}">
                <a16:creationId xmlns:a16="http://schemas.microsoft.com/office/drawing/2014/main" id="{34CEA652-4673-420A-9F39-DF0590DCEFBF}"/>
              </a:ext>
            </a:extLst>
          </p:cNvPr>
          <p:cNvSpPr txBox="1"/>
          <p:nvPr/>
        </p:nvSpPr>
        <p:spPr>
          <a:xfrm>
            <a:off x="2323382" y="6015686"/>
            <a:ext cx="25534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err="1">
                <a:ln>
                  <a:noFill/>
                </a:ln>
                <a:solidFill>
                  <a:prstClr val="black"/>
                </a:solidFill>
                <a:effectLst/>
                <a:uLnTx/>
                <a:uFillTx/>
                <a:latin typeface="Segoe UI"/>
                <a:ea typeface="メイリオ"/>
                <a:cs typeface="+mn-cs"/>
              </a:rPr>
              <a:t>XDCFile</a:t>
            </a:r>
            <a:endPar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endParaRPr>
          </a:p>
        </p:txBody>
      </p:sp>
      <p:sp>
        <p:nvSpPr>
          <p:cNvPr id="11" name="テキスト ボックス 10">
            <a:extLst>
              <a:ext uri="{FF2B5EF4-FFF2-40B4-BE49-F238E27FC236}">
                <a16:creationId xmlns:a16="http://schemas.microsoft.com/office/drawing/2014/main" id="{5DF2EFC8-DC27-449C-AFD7-7E7721064FF7}"/>
              </a:ext>
            </a:extLst>
          </p:cNvPr>
          <p:cNvSpPr txBox="1"/>
          <p:nvPr/>
        </p:nvSpPr>
        <p:spPr>
          <a:xfrm>
            <a:off x="6755962" y="6120919"/>
            <a:ext cx="445921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Implemented</a:t>
            </a: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 </a:t>
            </a: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Designed</a:t>
            </a:r>
            <a:endPar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endParaRPr>
          </a:p>
        </p:txBody>
      </p:sp>
      <p:sp>
        <p:nvSpPr>
          <p:cNvPr id="5" name="テキスト ボックス 4">
            <a:extLst>
              <a:ext uri="{FF2B5EF4-FFF2-40B4-BE49-F238E27FC236}">
                <a16:creationId xmlns:a16="http://schemas.microsoft.com/office/drawing/2014/main" id="{0EF0FCBA-D6F2-4D5A-8921-9641A5024E16}"/>
              </a:ext>
            </a:extLst>
          </p:cNvPr>
          <p:cNvSpPr txBox="1"/>
          <p:nvPr/>
        </p:nvSpPr>
        <p:spPr>
          <a:xfrm>
            <a:off x="444221" y="1050877"/>
            <a:ext cx="5651779" cy="923330"/>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t>設定</a:t>
            </a:r>
            <a:r>
              <a:rPr lang="ja-JP" altLang="en-US" dirty="0"/>
              <a:t>した</a:t>
            </a:r>
            <a:r>
              <a:rPr lang="en-US" altLang="ja-JP" dirty="0" err="1"/>
              <a:t>Pblock</a:t>
            </a:r>
            <a:r>
              <a:rPr lang="ja-JP" altLang="en-US" dirty="0"/>
              <a:t>は</a:t>
            </a:r>
            <a:r>
              <a:rPr kumimoji="1" lang="en-US" altLang="ja-JP" dirty="0"/>
              <a:t>XDC</a:t>
            </a:r>
            <a:r>
              <a:rPr kumimoji="1" lang="ja-JP" altLang="en-US" dirty="0"/>
              <a:t>ファイルに反映</a:t>
            </a:r>
            <a:endParaRPr kumimoji="1" lang="en-US" altLang="ja-JP" dirty="0"/>
          </a:p>
          <a:p>
            <a:pPr marL="285750" indent="-285750">
              <a:buFont typeface="Arial" panose="020B0604020202020204" pitchFamily="34" charset="0"/>
              <a:buChar char="•"/>
            </a:pPr>
            <a:r>
              <a:rPr lang="ja-JP" altLang="en-US" dirty="0">
                <a:solidFill>
                  <a:prstClr val="black"/>
                </a:solidFill>
              </a:rPr>
              <a:t>設定した</a:t>
            </a:r>
            <a:r>
              <a:rPr lang="en-US" altLang="ja-JP" dirty="0" err="1">
                <a:solidFill>
                  <a:prstClr val="black"/>
                </a:solidFill>
              </a:rPr>
              <a:t>Pblock</a:t>
            </a:r>
            <a:r>
              <a:rPr lang="ja-JP" altLang="en-US" dirty="0">
                <a:solidFill>
                  <a:prstClr val="black"/>
                </a:solidFill>
              </a:rPr>
              <a:t>は</a:t>
            </a:r>
            <a:r>
              <a:rPr lang="en-US" altLang="ja-JP" dirty="0">
                <a:solidFill>
                  <a:prstClr val="black"/>
                </a:solidFill>
              </a:rPr>
              <a:t>Implemented</a:t>
            </a:r>
            <a:r>
              <a:rPr lang="ja-JP" altLang="en-US" dirty="0">
                <a:solidFill>
                  <a:prstClr val="black"/>
                </a:solidFill>
              </a:rPr>
              <a:t> </a:t>
            </a:r>
            <a:r>
              <a:rPr lang="en-US" altLang="ja-JP" dirty="0">
                <a:solidFill>
                  <a:prstClr val="black"/>
                </a:solidFill>
              </a:rPr>
              <a:t>Designed</a:t>
            </a:r>
            <a:r>
              <a:rPr lang="ja-JP" altLang="en-US" dirty="0">
                <a:solidFill>
                  <a:prstClr val="black"/>
                </a:solidFill>
              </a:rPr>
              <a:t>で視覚的に確認可能・エリア配置、サイズの変更が可能</a:t>
            </a:r>
          </a:p>
        </p:txBody>
      </p:sp>
    </p:spTree>
    <p:extLst>
      <p:ext uri="{BB962C8B-B14F-4D97-AF65-F5344CB8AC3E}">
        <p14:creationId xmlns:p14="http://schemas.microsoft.com/office/powerpoint/2010/main" val="4106398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8A16FFF9-D9D5-4A1E-AAC7-513792ACA314}"/>
              </a:ext>
            </a:extLst>
          </p:cNvPr>
          <p:cNvPicPr>
            <a:picLocks noChangeAspect="1"/>
          </p:cNvPicPr>
          <p:nvPr/>
        </p:nvPicPr>
        <p:blipFill>
          <a:blip r:embed="rId2"/>
          <a:stretch>
            <a:fillRect/>
          </a:stretch>
        </p:blipFill>
        <p:spPr>
          <a:xfrm>
            <a:off x="307995" y="862672"/>
            <a:ext cx="5715798" cy="5649113"/>
          </a:xfrm>
          <a:prstGeom prst="rect">
            <a:avLst/>
          </a:prstGeom>
        </p:spPr>
      </p:pic>
      <p:sp>
        <p:nvSpPr>
          <p:cNvPr id="2" name="タイトル 1">
            <a:extLst>
              <a:ext uri="{FF2B5EF4-FFF2-40B4-BE49-F238E27FC236}">
                <a16:creationId xmlns:a16="http://schemas.microsoft.com/office/drawing/2014/main" id="{787799B1-B306-400B-936E-A598A13CE175}"/>
              </a:ext>
            </a:extLst>
          </p:cNvPr>
          <p:cNvSpPr>
            <a:spLocks noGrp="1"/>
          </p:cNvSpPr>
          <p:nvPr>
            <p:ph type="title"/>
          </p:nvPr>
        </p:nvSpPr>
        <p:spPr/>
        <p:txBody>
          <a:bodyPr/>
          <a:lstStyle/>
          <a:p>
            <a:r>
              <a:rPr kumimoji="1" lang="en-US" altLang="ja-JP" dirty="0"/>
              <a:t>TEG</a:t>
            </a:r>
            <a:r>
              <a:rPr kumimoji="1" lang="ja-JP" altLang="en-US" dirty="0"/>
              <a:t>回路の</a:t>
            </a:r>
            <a:r>
              <a:rPr kumimoji="1" lang="en-US" altLang="ja-JP" dirty="0" err="1"/>
              <a:t>Pblock</a:t>
            </a:r>
            <a:r>
              <a:rPr kumimoji="1" lang="ja-JP" altLang="en-US" dirty="0"/>
              <a:t>エリア</a:t>
            </a:r>
          </a:p>
        </p:txBody>
      </p:sp>
      <p:sp>
        <p:nvSpPr>
          <p:cNvPr id="4" name="スライド番号プレースホルダー 3">
            <a:extLst>
              <a:ext uri="{FF2B5EF4-FFF2-40B4-BE49-F238E27FC236}">
                <a16:creationId xmlns:a16="http://schemas.microsoft.com/office/drawing/2014/main" id="{B69AAF4F-348A-42A2-99AF-CA8F795E55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24D12C-9692-4086-B843-0896D3A9ECC1}" type="slidenum">
              <a:rPr kumimoji="1" lang="ja-JP" altLang="en-US" sz="2800" b="0" i="0" u="none" strike="noStrike" kern="1200" cap="none" spc="0" normalizeH="0" baseline="0" noProof="0" smtClean="0">
                <a:ln>
                  <a:noFill/>
                </a:ln>
                <a:solidFill>
                  <a:prstClr val="white"/>
                </a:solidFill>
                <a:effectLst/>
                <a:uLnTx/>
                <a:uFillTx/>
                <a:latin typeface="Segoe UI"/>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2800" b="0" i="0" u="none" strike="noStrike" kern="1200" cap="none" spc="0" normalizeH="0" baseline="0" noProof="0" dirty="0">
              <a:ln>
                <a:noFill/>
              </a:ln>
              <a:solidFill>
                <a:prstClr val="white"/>
              </a:solidFill>
              <a:effectLst/>
              <a:uLnTx/>
              <a:uFillTx/>
              <a:latin typeface="Segoe UI"/>
              <a:ea typeface="メイリオ"/>
              <a:cs typeface="+mn-cs"/>
            </a:endParaRPr>
          </a:p>
        </p:txBody>
      </p:sp>
      <p:sp>
        <p:nvSpPr>
          <p:cNvPr id="3" name="正方形/長方形 2">
            <a:extLst>
              <a:ext uri="{FF2B5EF4-FFF2-40B4-BE49-F238E27FC236}">
                <a16:creationId xmlns:a16="http://schemas.microsoft.com/office/drawing/2014/main" id="{D396D471-D15F-4854-BF06-C2DC68406AF9}"/>
              </a:ext>
            </a:extLst>
          </p:cNvPr>
          <p:cNvSpPr/>
          <p:nvPr/>
        </p:nvSpPr>
        <p:spPr>
          <a:xfrm>
            <a:off x="3165894" y="1863170"/>
            <a:ext cx="1414732" cy="3631856"/>
          </a:xfrm>
          <a:prstGeom prst="rect">
            <a:avLst/>
          </a:prstGeom>
          <a:solidFill>
            <a:schemeClr val="accent2">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Segoe UI"/>
              <a:ea typeface="メイリオ"/>
              <a:cs typeface="+mn-cs"/>
            </a:endParaRPr>
          </a:p>
        </p:txBody>
      </p:sp>
      <p:cxnSp>
        <p:nvCxnSpPr>
          <p:cNvPr id="6" name="直線コネクタ 5">
            <a:extLst>
              <a:ext uri="{FF2B5EF4-FFF2-40B4-BE49-F238E27FC236}">
                <a16:creationId xmlns:a16="http://schemas.microsoft.com/office/drawing/2014/main" id="{6F3A247C-50B8-4B6F-B902-7F825EECF1B0}"/>
              </a:ext>
            </a:extLst>
          </p:cNvPr>
          <p:cNvCxnSpPr>
            <a:cxnSpLocks/>
          </p:cNvCxnSpPr>
          <p:nvPr/>
        </p:nvCxnSpPr>
        <p:spPr>
          <a:xfrm flipV="1">
            <a:off x="4589565" y="1172817"/>
            <a:ext cx="2725635" cy="157636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C2DF087C-53D0-442C-B762-17A4E6339AC4}"/>
              </a:ext>
            </a:extLst>
          </p:cNvPr>
          <p:cNvSpPr/>
          <p:nvPr/>
        </p:nvSpPr>
        <p:spPr>
          <a:xfrm>
            <a:off x="4636025" y="3256523"/>
            <a:ext cx="1005010" cy="284433"/>
          </a:xfrm>
          <a:prstGeom prst="rect">
            <a:avLst/>
          </a:prstGeom>
          <a:solidFill>
            <a:schemeClr val="accent6">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Segoe UI"/>
              <a:ea typeface="メイリオ"/>
              <a:cs typeface="+mn-cs"/>
            </a:endParaRPr>
          </a:p>
        </p:txBody>
      </p:sp>
      <p:cxnSp>
        <p:nvCxnSpPr>
          <p:cNvPr id="12" name="直線コネクタ 11">
            <a:extLst>
              <a:ext uri="{FF2B5EF4-FFF2-40B4-BE49-F238E27FC236}">
                <a16:creationId xmlns:a16="http://schemas.microsoft.com/office/drawing/2014/main" id="{B97A9DFD-5220-4CCF-83A6-C72F4AB8DFA0}"/>
              </a:ext>
            </a:extLst>
          </p:cNvPr>
          <p:cNvCxnSpPr>
            <a:cxnSpLocks/>
          </p:cNvCxnSpPr>
          <p:nvPr/>
        </p:nvCxnSpPr>
        <p:spPr>
          <a:xfrm flipV="1">
            <a:off x="5341009" y="1822380"/>
            <a:ext cx="2198648" cy="143414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982FA816-4D1F-4D06-89D2-B91BA640CC4E}"/>
              </a:ext>
            </a:extLst>
          </p:cNvPr>
          <p:cNvCxnSpPr>
            <a:cxnSpLocks/>
          </p:cNvCxnSpPr>
          <p:nvPr/>
        </p:nvCxnSpPr>
        <p:spPr>
          <a:xfrm flipV="1">
            <a:off x="5341009" y="2983063"/>
            <a:ext cx="1983130" cy="1201695"/>
          </a:xfrm>
          <a:prstGeom prst="line">
            <a:avLst/>
          </a:prstGeom>
          <a:ln w="381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7" name="テキスト ボックス 16">
            <a:extLst>
              <a:ext uri="{FF2B5EF4-FFF2-40B4-BE49-F238E27FC236}">
                <a16:creationId xmlns:a16="http://schemas.microsoft.com/office/drawing/2014/main" id="{03EE5F42-CD96-4D00-B009-E259C9C00847}"/>
              </a:ext>
            </a:extLst>
          </p:cNvPr>
          <p:cNvSpPr txBox="1"/>
          <p:nvPr/>
        </p:nvSpPr>
        <p:spPr>
          <a:xfrm>
            <a:off x="7409875" y="988151"/>
            <a:ext cx="203892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C</a:t>
            </a: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素子</a:t>
            </a:r>
          </a:p>
        </p:txBody>
      </p:sp>
      <p:sp>
        <p:nvSpPr>
          <p:cNvPr id="18" name="テキスト ボックス 17">
            <a:extLst>
              <a:ext uri="{FF2B5EF4-FFF2-40B4-BE49-F238E27FC236}">
                <a16:creationId xmlns:a16="http://schemas.microsoft.com/office/drawing/2014/main" id="{8470A9F6-6C49-4152-B8E5-9C6043B575B0}"/>
              </a:ext>
            </a:extLst>
          </p:cNvPr>
          <p:cNvSpPr txBox="1"/>
          <p:nvPr/>
        </p:nvSpPr>
        <p:spPr>
          <a:xfrm>
            <a:off x="7539657" y="1690198"/>
            <a:ext cx="197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周辺回路</a:t>
            </a:r>
          </a:p>
        </p:txBody>
      </p:sp>
      <p:sp>
        <p:nvSpPr>
          <p:cNvPr id="19" name="テキスト ボックス 18">
            <a:extLst>
              <a:ext uri="{FF2B5EF4-FFF2-40B4-BE49-F238E27FC236}">
                <a16:creationId xmlns:a16="http://schemas.microsoft.com/office/drawing/2014/main" id="{4057A307-1741-4D17-8048-0CADAB0FC3A2}"/>
              </a:ext>
            </a:extLst>
          </p:cNvPr>
          <p:cNvSpPr txBox="1"/>
          <p:nvPr/>
        </p:nvSpPr>
        <p:spPr>
          <a:xfrm>
            <a:off x="7526618" y="2798397"/>
            <a:ext cx="396301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ロジック（インバーター）・</a:t>
            </a: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DL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DL0</a:t>
            </a: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a:t>
            </a: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19</a:t>
            </a: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とその間のインバータ</a:t>
            </a:r>
            <a:endPar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DL20</a:t>
            </a: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a:t>
            </a:r>
            <a:r>
              <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rPr>
              <a:t>39</a:t>
            </a: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とその間のインバータ</a:t>
            </a:r>
            <a:endPar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800" b="0" i="0" u="none" strike="noStrike" kern="1200" cap="none" spc="0" normalizeH="0" baseline="0" noProof="0" dirty="0">
                <a:ln>
                  <a:noFill/>
                </a:ln>
                <a:solidFill>
                  <a:prstClr val="black"/>
                </a:solidFill>
                <a:effectLst/>
                <a:uLnTx/>
                <a:uFillTx/>
                <a:latin typeface="Segoe UI"/>
                <a:ea typeface="メイリオ"/>
                <a:cs typeface="+mn-cs"/>
              </a:rPr>
              <a:t>・・・</a:t>
            </a:r>
            <a:endParaRPr kumimoji="1" lang="en-US" altLang="ja-JP" sz="1800" b="0" i="0" u="none" strike="noStrike" kern="1200" cap="none" spc="0" normalizeH="0" baseline="0" noProof="0" dirty="0">
              <a:ln>
                <a:noFill/>
              </a:ln>
              <a:solidFill>
                <a:prstClr val="black"/>
              </a:solidFill>
              <a:effectLst/>
              <a:uLnTx/>
              <a:uFillTx/>
              <a:latin typeface="Segoe UI"/>
              <a:ea typeface="メイリオ"/>
              <a:cs typeface="+mn-cs"/>
            </a:endParaRPr>
          </a:p>
        </p:txBody>
      </p:sp>
      <p:sp>
        <p:nvSpPr>
          <p:cNvPr id="5" name="テキスト ボックス 4">
            <a:extLst>
              <a:ext uri="{FF2B5EF4-FFF2-40B4-BE49-F238E27FC236}">
                <a16:creationId xmlns:a16="http://schemas.microsoft.com/office/drawing/2014/main" id="{48C0B196-086B-49E7-8537-5E18223449DD}"/>
              </a:ext>
            </a:extLst>
          </p:cNvPr>
          <p:cNvSpPr txBox="1"/>
          <p:nvPr/>
        </p:nvSpPr>
        <p:spPr>
          <a:xfrm>
            <a:off x="7104797" y="5006045"/>
            <a:ext cx="438483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black"/>
                </a:solidFill>
                <a:effectLst/>
                <a:uLnTx/>
                <a:uFillTx/>
                <a:latin typeface="Segoe UI"/>
                <a:ea typeface="メイリオ"/>
                <a:cs typeface="+mn-cs"/>
              </a:rPr>
              <a:t>コメント：</a:t>
            </a:r>
            <a:endParaRPr kumimoji="1" lang="en-US" altLang="ja-JP" sz="2000" b="0" i="0" u="none" strike="noStrike" kern="1200" cap="none" spc="0" normalizeH="0" baseline="0" noProof="0" dirty="0">
              <a:ln>
                <a:noFill/>
              </a:ln>
              <a:solidFill>
                <a:prstClr val="black"/>
              </a:solidFill>
              <a:effectLst/>
              <a:uLnTx/>
              <a:uFillTx/>
              <a:latin typeface="Segoe UI"/>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prstClr val="black"/>
                </a:solidFill>
                <a:effectLst/>
                <a:uLnTx/>
                <a:uFillTx/>
                <a:latin typeface="Segoe UI"/>
                <a:ea typeface="メイリオ"/>
                <a:cs typeface="+mn-cs"/>
              </a:rPr>
              <a:t>C</a:t>
            </a:r>
            <a:r>
              <a:rPr kumimoji="1" lang="ja-JP" altLang="en-US" sz="2000" b="0" i="0" u="none" strike="noStrike" kern="1200" cap="none" spc="0" normalizeH="0" baseline="0" noProof="0" dirty="0">
                <a:ln>
                  <a:noFill/>
                </a:ln>
                <a:solidFill>
                  <a:prstClr val="black"/>
                </a:solidFill>
                <a:effectLst/>
                <a:uLnTx/>
                <a:uFillTx/>
                <a:latin typeface="Segoe UI"/>
                <a:ea typeface="メイリオ"/>
                <a:cs typeface="+mn-cs"/>
              </a:rPr>
              <a:t>素子エリアに余裕がありすぎる？</a:t>
            </a:r>
          </a:p>
        </p:txBody>
      </p:sp>
    </p:spTree>
    <p:extLst>
      <p:ext uri="{BB962C8B-B14F-4D97-AF65-F5344CB8AC3E}">
        <p14:creationId xmlns:p14="http://schemas.microsoft.com/office/powerpoint/2010/main" val="4042838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E4D4C9-7462-4FB9-9753-409D6963AE6E}"/>
              </a:ext>
            </a:extLst>
          </p:cNvPr>
          <p:cNvSpPr>
            <a:spLocks noGrp="1"/>
          </p:cNvSpPr>
          <p:nvPr>
            <p:ph type="title"/>
          </p:nvPr>
        </p:nvSpPr>
        <p:spPr/>
        <p:txBody>
          <a:bodyPr>
            <a:normAutofit/>
          </a:bodyPr>
          <a:lstStyle/>
          <a:p>
            <a:r>
              <a:rPr kumimoji="1" lang="en-US" altLang="ja-JP" dirty="0"/>
              <a:t>DDP</a:t>
            </a:r>
            <a:r>
              <a:rPr kumimoji="1" lang="ja-JP" altLang="en-US" dirty="0"/>
              <a:t>の</a:t>
            </a:r>
            <a:r>
              <a:rPr lang="en-US" altLang="ja-JP" dirty="0" err="1"/>
              <a:t>Pblock</a:t>
            </a:r>
            <a:r>
              <a:rPr lang="ja-JP" altLang="en-US" dirty="0"/>
              <a:t>エリア</a:t>
            </a:r>
            <a:endParaRPr kumimoji="1" lang="ja-JP" altLang="en-US" dirty="0"/>
          </a:p>
        </p:txBody>
      </p:sp>
      <p:sp>
        <p:nvSpPr>
          <p:cNvPr id="3" name="コンテンツ プレースホルダー 2">
            <a:extLst>
              <a:ext uri="{FF2B5EF4-FFF2-40B4-BE49-F238E27FC236}">
                <a16:creationId xmlns:a16="http://schemas.microsoft.com/office/drawing/2014/main" id="{1A257121-CB46-446E-A221-41CB42A00B64}"/>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A600AC-3063-4DE7-8A16-627899416718}"/>
              </a:ext>
            </a:extLst>
          </p:cNvPr>
          <p:cNvSpPr>
            <a:spLocks noGrp="1"/>
          </p:cNvSpPr>
          <p:nvPr>
            <p:ph type="sldNum" sz="quarter" idx="12"/>
          </p:nvPr>
        </p:nvSpPr>
        <p:spPr/>
        <p:txBody>
          <a:bodyPr/>
          <a:lstStyle/>
          <a:p>
            <a:fld id="{D424D12C-9692-4086-B843-0896D3A9ECC1}" type="slidenum">
              <a:rPr lang="ja-JP" altLang="en-US" smtClean="0"/>
              <a:pPr/>
              <a:t>9</a:t>
            </a:fld>
            <a:endParaRPr lang="ja-JP" altLang="en-US" dirty="0"/>
          </a:p>
        </p:txBody>
      </p:sp>
      <p:pic>
        <p:nvPicPr>
          <p:cNvPr id="5" name="図 4">
            <a:extLst>
              <a:ext uri="{FF2B5EF4-FFF2-40B4-BE49-F238E27FC236}">
                <a16:creationId xmlns:a16="http://schemas.microsoft.com/office/drawing/2014/main" id="{6515DB8A-B799-4FB2-A196-74B011FD71CA}"/>
              </a:ext>
            </a:extLst>
          </p:cNvPr>
          <p:cNvPicPr>
            <a:picLocks noChangeAspect="1"/>
          </p:cNvPicPr>
          <p:nvPr/>
        </p:nvPicPr>
        <p:blipFill>
          <a:blip r:embed="rId2"/>
          <a:stretch>
            <a:fillRect/>
          </a:stretch>
        </p:blipFill>
        <p:spPr>
          <a:xfrm>
            <a:off x="740780" y="1219459"/>
            <a:ext cx="5355220" cy="5276851"/>
          </a:xfrm>
          <a:prstGeom prst="rect">
            <a:avLst/>
          </a:prstGeom>
        </p:spPr>
      </p:pic>
      <p:pic>
        <p:nvPicPr>
          <p:cNvPr id="6" name="図 5">
            <a:extLst>
              <a:ext uri="{FF2B5EF4-FFF2-40B4-BE49-F238E27FC236}">
                <a16:creationId xmlns:a16="http://schemas.microsoft.com/office/drawing/2014/main" id="{BF6E4A66-5F59-456B-AFC4-908AE5EAB26B}"/>
              </a:ext>
            </a:extLst>
          </p:cNvPr>
          <p:cNvPicPr>
            <a:picLocks noChangeAspect="1"/>
          </p:cNvPicPr>
          <p:nvPr/>
        </p:nvPicPr>
        <p:blipFill>
          <a:blip r:embed="rId3"/>
          <a:stretch>
            <a:fillRect/>
          </a:stretch>
        </p:blipFill>
        <p:spPr>
          <a:xfrm>
            <a:off x="7050056" y="1834308"/>
            <a:ext cx="4401164" cy="4334480"/>
          </a:xfrm>
          <a:prstGeom prst="rect">
            <a:avLst/>
          </a:prstGeom>
          <a:ln w="38100">
            <a:solidFill>
              <a:schemeClr val="accent2"/>
            </a:solidFill>
          </a:ln>
        </p:spPr>
      </p:pic>
      <p:sp>
        <p:nvSpPr>
          <p:cNvPr id="7" name="正方形/長方形 6">
            <a:extLst>
              <a:ext uri="{FF2B5EF4-FFF2-40B4-BE49-F238E27FC236}">
                <a16:creationId xmlns:a16="http://schemas.microsoft.com/office/drawing/2014/main" id="{F746F576-C1B7-423D-BB7B-12397FA5FA22}"/>
              </a:ext>
            </a:extLst>
          </p:cNvPr>
          <p:cNvSpPr/>
          <p:nvPr/>
        </p:nvSpPr>
        <p:spPr>
          <a:xfrm>
            <a:off x="4178461" y="2893671"/>
            <a:ext cx="1782501" cy="1898248"/>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9DB29CC8-C1B7-4089-AA6B-2CA3F872C7D2}"/>
              </a:ext>
            </a:extLst>
          </p:cNvPr>
          <p:cNvCxnSpPr>
            <a:stCxn id="7" idx="0"/>
          </p:cNvCxnSpPr>
          <p:nvPr/>
        </p:nvCxnSpPr>
        <p:spPr>
          <a:xfrm flipV="1">
            <a:off x="5069712" y="1834308"/>
            <a:ext cx="1980344" cy="105936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18F9847-4FA1-44E8-89E6-1D2740A314FC}"/>
              </a:ext>
            </a:extLst>
          </p:cNvPr>
          <p:cNvCxnSpPr>
            <a:cxnSpLocks/>
            <a:stCxn id="7" idx="2"/>
          </p:cNvCxnSpPr>
          <p:nvPr/>
        </p:nvCxnSpPr>
        <p:spPr>
          <a:xfrm>
            <a:off x="5069712" y="4791919"/>
            <a:ext cx="1934901" cy="137686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6212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975B70-9303-4B8A-A636-CC6F2976492D}"/>
              </a:ext>
            </a:extLst>
          </p:cNvPr>
          <p:cNvSpPr>
            <a:spLocks noGrp="1"/>
          </p:cNvSpPr>
          <p:nvPr>
            <p:ph type="title"/>
          </p:nvPr>
        </p:nvSpPr>
        <p:spPr/>
        <p:txBody>
          <a:bodyPr/>
          <a:lstStyle/>
          <a:p>
            <a:r>
              <a:rPr lang="en-US" altLang="ja-JP" dirty="0"/>
              <a:t>LOC/BEL</a:t>
            </a:r>
            <a:r>
              <a:rPr lang="ja-JP" altLang="en-US" dirty="0"/>
              <a:t>属性使用方法１</a:t>
            </a:r>
            <a:endParaRPr kumimoji="1" lang="ja-JP" altLang="en-US" dirty="0"/>
          </a:p>
        </p:txBody>
      </p:sp>
      <p:pic>
        <p:nvPicPr>
          <p:cNvPr id="5" name="コンテンツ プレースホルダー 4">
            <a:extLst>
              <a:ext uri="{FF2B5EF4-FFF2-40B4-BE49-F238E27FC236}">
                <a16:creationId xmlns:a16="http://schemas.microsoft.com/office/drawing/2014/main" id="{E556A972-68BC-447D-91DC-3BCF008F95D3}"/>
              </a:ext>
            </a:extLst>
          </p:cNvPr>
          <p:cNvPicPr>
            <a:picLocks noGrp="1" noChangeAspect="1"/>
          </p:cNvPicPr>
          <p:nvPr>
            <p:ph idx="1"/>
          </p:nvPr>
        </p:nvPicPr>
        <p:blipFill>
          <a:blip r:embed="rId2"/>
          <a:stretch>
            <a:fillRect/>
          </a:stretch>
        </p:blipFill>
        <p:spPr>
          <a:xfrm>
            <a:off x="284071" y="2868016"/>
            <a:ext cx="4776712" cy="3483698"/>
          </a:xfrm>
          <a:prstGeom prst="rect">
            <a:avLst/>
          </a:prstGeom>
        </p:spPr>
      </p:pic>
      <p:sp>
        <p:nvSpPr>
          <p:cNvPr id="4" name="スライド番号プレースホルダー 3">
            <a:extLst>
              <a:ext uri="{FF2B5EF4-FFF2-40B4-BE49-F238E27FC236}">
                <a16:creationId xmlns:a16="http://schemas.microsoft.com/office/drawing/2014/main" id="{DD9DA70B-DEEC-44F9-AA9B-A0303FF3CFE1}"/>
              </a:ext>
            </a:extLst>
          </p:cNvPr>
          <p:cNvSpPr>
            <a:spLocks noGrp="1"/>
          </p:cNvSpPr>
          <p:nvPr>
            <p:ph type="sldNum" sz="quarter" idx="12"/>
          </p:nvPr>
        </p:nvSpPr>
        <p:spPr/>
        <p:txBody>
          <a:bodyPr/>
          <a:lstStyle/>
          <a:p>
            <a:fld id="{D424D12C-9692-4086-B843-0896D3A9ECC1}" type="slidenum">
              <a:rPr lang="ja-JP" altLang="en-US" smtClean="0"/>
              <a:pPr/>
              <a:t>10</a:t>
            </a:fld>
            <a:endParaRPr lang="ja-JP" altLang="en-US" dirty="0"/>
          </a:p>
        </p:txBody>
      </p:sp>
      <p:sp>
        <p:nvSpPr>
          <p:cNvPr id="6" name="テキスト ボックス 5">
            <a:extLst>
              <a:ext uri="{FF2B5EF4-FFF2-40B4-BE49-F238E27FC236}">
                <a16:creationId xmlns:a16="http://schemas.microsoft.com/office/drawing/2014/main" id="{E8C40F64-081C-41A0-9D70-64CD8F50D500}"/>
              </a:ext>
            </a:extLst>
          </p:cNvPr>
          <p:cNvSpPr txBox="1"/>
          <p:nvPr/>
        </p:nvSpPr>
        <p:spPr>
          <a:xfrm>
            <a:off x="284071" y="945592"/>
            <a:ext cx="11239018" cy="1200329"/>
          </a:xfrm>
          <a:prstGeom prst="rect">
            <a:avLst/>
          </a:prstGeom>
          <a:noFill/>
        </p:spPr>
        <p:txBody>
          <a:bodyPr wrap="square" rtlCol="0">
            <a:spAutoFit/>
          </a:bodyPr>
          <a:lstStyle/>
          <a:p>
            <a:r>
              <a:rPr kumimoji="1" lang="en-US" altLang="ja-JP" dirty="0"/>
              <a:t>Implementation</a:t>
            </a:r>
            <a:r>
              <a:rPr kumimoji="1" lang="ja-JP" altLang="en-US" dirty="0"/>
              <a:t>後</a:t>
            </a:r>
            <a:endParaRPr kumimoji="1" lang="en-US" altLang="ja-JP" dirty="0"/>
          </a:p>
          <a:p>
            <a:r>
              <a:rPr lang="en-US" altLang="ja-JP" dirty="0"/>
              <a:t>Implemented Design</a:t>
            </a:r>
            <a:r>
              <a:rPr lang="ja-JP" altLang="en-US" dirty="0"/>
              <a:t>から</a:t>
            </a:r>
            <a:r>
              <a:rPr lang="en-US" altLang="ja-JP" dirty="0"/>
              <a:t>GUI</a:t>
            </a:r>
            <a:r>
              <a:rPr lang="ja-JP" altLang="en-US" dirty="0"/>
              <a:t>で設定</a:t>
            </a:r>
            <a:endParaRPr lang="en-US" altLang="ja-JP" dirty="0"/>
          </a:p>
          <a:p>
            <a:pPr marL="342900" indent="-342900">
              <a:buFont typeface="+mj-lt"/>
              <a:buAutoNum type="arabicPeriod"/>
            </a:pPr>
            <a:r>
              <a:rPr kumimoji="1" lang="en-US" altLang="ja-JP" dirty="0"/>
              <a:t>Netlist</a:t>
            </a:r>
            <a:r>
              <a:rPr kumimoji="1" lang="ja-JP" altLang="en-US" dirty="0"/>
              <a:t>から固定したいモジュールを右クリック⇒</a:t>
            </a:r>
            <a:r>
              <a:rPr kumimoji="1" lang="en-US" altLang="ja-JP" dirty="0"/>
              <a:t>Select Leaf Cells</a:t>
            </a:r>
            <a:r>
              <a:rPr kumimoji="1" lang="ja-JP" altLang="en-US" dirty="0"/>
              <a:t>を選択</a:t>
            </a:r>
            <a:endParaRPr kumimoji="1" lang="en-US" altLang="ja-JP" dirty="0"/>
          </a:p>
          <a:p>
            <a:pPr marL="342900" indent="-342900">
              <a:buFont typeface="+mj-lt"/>
              <a:buAutoNum type="arabicPeriod"/>
            </a:pPr>
            <a:r>
              <a:rPr kumimoji="1" lang="ja-JP" altLang="en-US" dirty="0"/>
              <a:t>選択したモジュールが</a:t>
            </a:r>
            <a:r>
              <a:rPr kumimoji="1" lang="en-US" altLang="ja-JP" dirty="0"/>
              <a:t>Design</a:t>
            </a:r>
            <a:r>
              <a:rPr kumimoji="1" lang="ja-JP" altLang="en-US" dirty="0"/>
              <a:t>上で白色で強調表示される⇒その上で右クリック⇒</a:t>
            </a:r>
            <a:r>
              <a:rPr kumimoji="1" lang="en-US" altLang="ja-JP" dirty="0" err="1"/>
              <a:t>FixCells</a:t>
            </a:r>
            <a:endParaRPr kumimoji="1" lang="ja-JP" altLang="en-US" dirty="0"/>
          </a:p>
        </p:txBody>
      </p:sp>
      <p:pic>
        <p:nvPicPr>
          <p:cNvPr id="7" name="図 6">
            <a:extLst>
              <a:ext uri="{FF2B5EF4-FFF2-40B4-BE49-F238E27FC236}">
                <a16:creationId xmlns:a16="http://schemas.microsoft.com/office/drawing/2014/main" id="{A159F99A-F618-498B-B658-DC23C5A8542A}"/>
              </a:ext>
            </a:extLst>
          </p:cNvPr>
          <p:cNvPicPr>
            <a:picLocks noChangeAspect="1"/>
          </p:cNvPicPr>
          <p:nvPr/>
        </p:nvPicPr>
        <p:blipFill>
          <a:blip r:embed="rId3"/>
          <a:stretch>
            <a:fillRect/>
          </a:stretch>
        </p:blipFill>
        <p:spPr>
          <a:xfrm>
            <a:off x="5722076" y="2960491"/>
            <a:ext cx="6059748" cy="3487168"/>
          </a:xfrm>
          <a:prstGeom prst="rect">
            <a:avLst/>
          </a:prstGeom>
        </p:spPr>
      </p:pic>
    </p:spTree>
    <p:extLst>
      <p:ext uri="{BB962C8B-B14F-4D97-AF65-F5344CB8AC3E}">
        <p14:creationId xmlns:p14="http://schemas.microsoft.com/office/powerpoint/2010/main" val="27054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20086D-3D9C-4F77-B0A0-475252F69532}"/>
              </a:ext>
            </a:extLst>
          </p:cNvPr>
          <p:cNvSpPr>
            <a:spLocks noGrp="1"/>
          </p:cNvSpPr>
          <p:nvPr>
            <p:ph type="title"/>
          </p:nvPr>
        </p:nvSpPr>
        <p:spPr/>
        <p:txBody>
          <a:bodyPr/>
          <a:lstStyle/>
          <a:p>
            <a:r>
              <a:rPr lang="en-US" altLang="ja-JP" dirty="0"/>
              <a:t>LOC/BEL</a:t>
            </a:r>
            <a:r>
              <a:rPr lang="ja-JP" altLang="en-US"/>
              <a:t>属性使用方法２</a:t>
            </a:r>
            <a:endParaRPr kumimoji="1" lang="ja-JP" altLang="en-US"/>
          </a:p>
        </p:txBody>
      </p:sp>
      <p:pic>
        <p:nvPicPr>
          <p:cNvPr id="5" name="コンテンツ プレースホルダー 4">
            <a:extLst>
              <a:ext uri="{FF2B5EF4-FFF2-40B4-BE49-F238E27FC236}">
                <a16:creationId xmlns:a16="http://schemas.microsoft.com/office/drawing/2014/main" id="{23862773-9809-45D9-A00E-971003AE9A08}"/>
              </a:ext>
            </a:extLst>
          </p:cNvPr>
          <p:cNvPicPr>
            <a:picLocks noGrp="1" noChangeAspect="1"/>
          </p:cNvPicPr>
          <p:nvPr>
            <p:ph idx="1"/>
          </p:nvPr>
        </p:nvPicPr>
        <p:blipFill>
          <a:blip r:embed="rId2"/>
          <a:stretch>
            <a:fillRect/>
          </a:stretch>
        </p:blipFill>
        <p:spPr>
          <a:xfrm>
            <a:off x="336550" y="1761624"/>
            <a:ext cx="11518900" cy="4946767"/>
          </a:xfrm>
          <a:prstGeom prst="rect">
            <a:avLst/>
          </a:prstGeom>
        </p:spPr>
      </p:pic>
      <p:sp>
        <p:nvSpPr>
          <p:cNvPr id="4" name="スライド番号プレースホルダー 3">
            <a:extLst>
              <a:ext uri="{FF2B5EF4-FFF2-40B4-BE49-F238E27FC236}">
                <a16:creationId xmlns:a16="http://schemas.microsoft.com/office/drawing/2014/main" id="{E6F8F280-4942-4200-860E-687A96E524B1}"/>
              </a:ext>
            </a:extLst>
          </p:cNvPr>
          <p:cNvSpPr>
            <a:spLocks noGrp="1"/>
          </p:cNvSpPr>
          <p:nvPr>
            <p:ph type="sldNum" sz="quarter" idx="12"/>
          </p:nvPr>
        </p:nvSpPr>
        <p:spPr/>
        <p:txBody>
          <a:bodyPr/>
          <a:lstStyle/>
          <a:p>
            <a:fld id="{D424D12C-9692-4086-B843-0896D3A9ECC1}" type="slidenum">
              <a:rPr lang="ja-JP" altLang="en-US" smtClean="0"/>
              <a:pPr/>
              <a:t>11</a:t>
            </a:fld>
            <a:endParaRPr lang="ja-JP" altLang="en-US" dirty="0"/>
          </a:p>
        </p:txBody>
      </p:sp>
      <p:sp>
        <p:nvSpPr>
          <p:cNvPr id="6" name="テキスト ボックス 5">
            <a:extLst>
              <a:ext uri="{FF2B5EF4-FFF2-40B4-BE49-F238E27FC236}">
                <a16:creationId xmlns:a16="http://schemas.microsoft.com/office/drawing/2014/main" id="{80BC5221-EA8B-49CD-9A04-1788E2EDF0CB}"/>
              </a:ext>
            </a:extLst>
          </p:cNvPr>
          <p:cNvSpPr txBox="1"/>
          <p:nvPr/>
        </p:nvSpPr>
        <p:spPr>
          <a:xfrm>
            <a:off x="428262" y="1050877"/>
            <a:ext cx="8055981" cy="64633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t>固定後は</a:t>
            </a:r>
            <a:r>
              <a:rPr lang="en-US" altLang="ja-JP" dirty="0"/>
              <a:t>design</a:t>
            </a:r>
            <a:r>
              <a:rPr lang="ja-JP" altLang="en-US" dirty="0"/>
              <a:t>上では</a:t>
            </a:r>
            <a:r>
              <a:rPr kumimoji="1" lang="ja-JP" altLang="en-US" dirty="0"/>
              <a:t>オレンジ色で表示</a:t>
            </a:r>
            <a:endParaRPr lang="en-US" altLang="ja-JP" dirty="0"/>
          </a:p>
          <a:p>
            <a:pPr marL="285750" indent="-285750">
              <a:buFont typeface="Arial" panose="020B0604020202020204" pitchFamily="34" charset="0"/>
              <a:buChar char="•"/>
            </a:pPr>
            <a:r>
              <a:rPr lang="en-US" altLang="ja-JP" dirty="0"/>
              <a:t>Netlist</a:t>
            </a:r>
            <a:r>
              <a:rPr lang="ja-JP" altLang="en-US" dirty="0"/>
              <a:t>では固定されたモジュールはチェックマークが表示</a:t>
            </a:r>
            <a:endParaRPr kumimoji="1" lang="en-US" altLang="ja-JP" dirty="0"/>
          </a:p>
        </p:txBody>
      </p:sp>
    </p:spTree>
    <p:extLst>
      <p:ext uri="{BB962C8B-B14F-4D97-AF65-F5344CB8AC3E}">
        <p14:creationId xmlns:p14="http://schemas.microsoft.com/office/powerpoint/2010/main" val="311925008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メイリオ_Segoe UI">
      <a:majorFont>
        <a:latin typeface="Segoe UI"/>
        <a:ea typeface="メイリオ"/>
        <a:cs typeface=""/>
      </a:majorFont>
      <a:minorFont>
        <a:latin typeface="Segoe UI"/>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F3F0D4BE-28E9-4219-A6A5-737415EBF92A}" vid="{0AE202D9-9342-485C-897F-F50954978BB2}"/>
    </a:ext>
  </a:extLst>
</a:theme>
</file>

<file path=docProps/app.xml><?xml version="1.0" encoding="utf-8"?>
<Properties xmlns="http://schemas.openxmlformats.org/officeDocument/2006/extended-properties" xmlns:vt="http://schemas.openxmlformats.org/officeDocument/2006/docPropsVTypes">
  <TotalTime>142</TotalTime>
  <Words>723</Words>
  <Application>Microsoft Office PowerPoint</Application>
  <PresentationFormat>ワイド画面</PresentationFormat>
  <Paragraphs>91</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メイリオ</vt:lpstr>
      <vt:lpstr>Arial</vt:lpstr>
      <vt:lpstr>Segoe UI</vt:lpstr>
      <vt:lpstr>Wingdings</vt:lpstr>
      <vt:lpstr>1_Office テーマ</vt:lpstr>
      <vt:lpstr>回路固定方法説明資料 Pblock属性による実装エリア分け BEL・LOC属性による配置固定</vt:lpstr>
      <vt:lpstr>回路固定方法検討</vt:lpstr>
      <vt:lpstr>Thunderさんへ相談</vt:lpstr>
      <vt:lpstr>自分の手法の問題点</vt:lpstr>
      <vt:lpstr>採用した回路固定方法</vt:lpstr>
      <vt:lpstr>Pblock属性使用方法１</vt:lpstr>
      <vt:lpstr>Pblock属性使用方法２</vt:lpstr>
      <vt:lpstr>TEG回路のPblockエリア</vt:lpstr>
      <vt:lpstr>DDPのPblockエリア</vt:lpstr>
      <vt:lpstr>LOC/BEL属性使用方法１</vt:lpstr>
      <vt:lpstr>LOC/BEL属性使用方法２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回路固定方法検討</dc:title>
  <dc:creator>松坂拓海</dc:creator>
  <cp:lastModifiedBy>Windows ユーザー</cp:lastModifiedBy>
  <cp:revision>6</cp:revision>
  <dcterms:created xsi:type="dcterms:W3CDTF">2025-03-10T06:28:16Z</dcterms:created>
  <dcterms:modified xsi:type="dcterms:W3CDTF">2025-03-13T05:21:55Z</dcterms:modified>
</cp:coreProperties>
</file>