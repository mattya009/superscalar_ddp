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"/>
  </p:notesMasterIdLst>
  <p:sldIdLst>
    <p:sldId id="261" r:id="rId5"/>
    <p:sldId id="258" r:id="rId6"/>
    <p:sldId id="259" r:id="rId7"/>
    <p:sldId id="260" r:id="rId8"/>
  </p:sldIdLst>
  <p:sldSz cx="12192000" cy="6858000"/>
  <p:notesSz cx="9144000" cy="6858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88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14C4B0-AFF7-4413-A9D0-579AE012756C}" v="517" dt="2024-02-28T13:16:19.093"/>
    <p1510:client id="{D582F761-A315-4A87-BF8F-D9C614B16167}" v="1" dt="2024-03-15T08:36:27.712"/>
    <p1510:client id="{D94DA4ED-36A7-4503-9061-AEB7DB5D5886}" v="689" dt="2024-02-28T23:54:00.0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4" autoAdjust="0"/>
    <p:restoredTop sz="90235" autoAdjust="0"/>
  </p:normalViewPr>
  <p:slideViewPr>
    <p:cSldViewPr snapToGrid="0" showGuides="1">
      <p:cViewPr varScale="1">
        <p:scale>
          <a:sx n="113" d="100"/>
          <a:sy n="113" d="100"/>
        </p:scale>
        <p:origin x="222" y="108"/>
      </p:cViewPr>
      <p:guideLst>
        <p:guide orient="horz" pos="1888"/>
        <p:guide pos="3817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3828" y="90"/>
      </p:cViewPr>
      <p:guideLst>
        <p:guide orient="horz" pos="2160"/>
        <p:guide pos="288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5179484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6FE738-7966-4A55-A175-3F32615C60F8}" type="datetimeFigureOut">
              <a:rPr kumimoji="1" lang="ja-JP" altLang="en-US" smtClean="0"/>
              <a:t>2025/3/13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52862B-4808-4D4A-8E9F-060A3CBB65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9134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CBFD06-16F8-4665-9D64-EB9F4476D3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9424D07-6844-436F-88BA-16B37AC5B7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  <a:endParaRPr kumimoji="1" lang="ja-JP" altLang="en-US" dirty="0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8274C8DF-470F-422D-B555-4E57BFCD288C}"/>
              </a:ext>
            </a:extLst>
          </p:cNvPr>
          <p:cNvCxnSpPr/>
          <p:nvPr userDrawn="1"/>
        </p:nvCxnSpPr>
        <p:spPr>
          <a:xfrm>
            <a:off x="1046328" y="3509963"/>
            <a:ext cx="10099343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0272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FD3FBF-7C70-4579-946E-3FDAAA909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194" y="136525"/>
            <a:ext cx="11518710" cy="72679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8F6D143-81C5-47DE-8A2E-89BFAC12D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194" y="1050878"/>
            <a:ext cx="11518710" cy="511791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FB7E32-1019-4C1B-8CDD-D8BDC14A0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2024/2/29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68570B9-C9F8-41FB-B4B6-91EE8A624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 dirty="0"/>
              <a:t>M1 </a:t>
            </a:r>
            <a:r>
              <a:rPr kumimoji="1" lang="ja-JP" altLang="en-US" dirty="0"/>
              <a:t>セミナー発表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395B90E-91EC-48D5-A716-4C7F2A6D3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800"/>
            </a:lvl1pPr>
          </a:lstStyle>
          <a:p>
            <a:fld id="{D424D12C-9692-4086-B843-0896D3A9ECC1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6775AB1D-9A6F-4597-866E-B3A5D4D6A91D}"/>
              </a:ext>
            </a:extLst>
          </p:cNvPr>
          <p:cNvCxnSpPr>
            <a:cxnSpLocks/>
          </p:cNvCxnSpPr>
          <p:nvPr userDrawn="1"/>
        </p:nvCxnSpPr>
        <p:spPr>
          <a:xfrm>
            <a:off x="343270" y="852256"/>
            <a:ext cx="1150546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5204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2DDFEB-C811-4062-8B93-F78A9901D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78E8496-02BA-4B29-9F16-29EF54FF04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5E6C60E-7EA7-4D80-8EB5-63A82EDF0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2024/2/29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6F6A853-739B-4E1B-8F97-74B147A6E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M1 </a:t>
            </a:r>
            <a:r>
              <a:rPr kumimoji="1" lang="ja-JP" altLang="en-US"/>
              <a:t>セミナー発表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302B21-01C7-43B5-A8C3-E2928642C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4D12C-9692-4086-B843-0896D3A9EC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5762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F0D6A7-C881-42C7-8414-8D21A3B5C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50878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0CBCAC0-1296-4F02-8CFD-194FF9653C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37B77BD-EC36-4BD9-A99E-AEE725C5AE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079B453-0F10-4F03-A6D9-8F5B3FC7D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2024/2/29</a:t>
            </a:r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AD0FAFA-A731-4247-A6FA-7A7102F30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M1 </a:t>
            </a:r>
            <a:r>
              <a:rPr kumimoji="1" lang="ja-JP" altLang="en-US"/>
              <a:t>セミナー発表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7012F94-4977-4BD3-B1E2-1D0977280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4D12C-9692-4086-B843-0896D3A9EC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4033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C2F9A65-1D88-4D7D-80EE-755A84B923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DD304F7-C869-43B3-8529-1E0B3C9BE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034F534-228A-4A3D-8A63-792DDB8B51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BF06B86-FAF1-44F9-9B97-73832710F2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17D01C9-156B-4C15-804E-3BC4892D2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2024/2/29</a:t>
            </a:r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179235E-7DFF-4BF7-8055-B46E0A82C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M1 </a:t>
            </a:r>
            <a:r>
              <a:rPr kumimoji="1" lang="ja-JP" altLang="en-US"/>
              <a:t>セミナー発表</a:t>
            </a:r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8DC0DDB-B6EA-4407-9142-3D2BB29AC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4D12C-9692-4086-B843-0896D3A9EC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0356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3635AA-3671-4BBA-8AEC-7D561EE71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50878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DA2704B-2B74-4863-B7DD-E17478B2C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2024/2/29</a:t>
            </a:r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1D81B5A-9ED0-405F-8A7C-99814F4F4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M1 </a:t>
            </a:r>
            <a:r>
              <a:rPr kumimoji="1" lang="ja-JP" altLang="en-US"/>
              <a:t>セミナー発表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BFEF174-11C0-4A3A-960F-8DAF73BAE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4D12C-9692-4086-B843-0896D3A9EC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2945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32FD997-5D8C-4F17-91DA-1B68B5D8D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2024/2/29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796DF2D-6752-461D-8FE1-4404D8412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M1 </a:t>
            </a:r>
            <a:r>
              <a:rPr kumimoji="1" lang="ja-JP" altLang="en-US"/>
              <a:t>セミナー発表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EB9C5B3-360F-43B8-886C-6D1F0EA7C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4D12C-9692-4086-B843-0896D3A9EC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9139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A1AD22-7CFF-4DAE-ACAC-D5257591F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91A6935-456C-4CEA-A578-F4CAB86CB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7EBEE3D-A171-435C-8EE4-CBDEF820E4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839AE19-B7AB-4059-A637-E9148E833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2024/2/29</a:t>
            </a:r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8EB58E4-25FC-493D-99AF-9480E2FEB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M1 </a:t>
            </a:r>
            <a:r>
              <a:rPr kumimoji="1" lang="ja-JP" altLang="en-US"/>
              <a:t>セミナー発表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245B7B8-9CBE-47E9-B198-FC7D8FB37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4D12C-9692-4086-B843-0896D3A9EC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9418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F99AF3-4894-4A42-AF2A-2B547D772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268F35F-274F-47F8-A403-21C3AEE772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2B28863-62F2-45A6-B813-2D013F4674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7B7203D-3A67-4CF0-A8BE-49860055B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2024/2/29</a:t>
            </a:r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F3C90BC-15A0-4AAB-B798-3A75FB007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M1 </a:t>
            </a:r>
            <a:r>
              <a:rPr kumimoji="1" lang="ja-JP" altLang="en-US"/>
              <a:t>セミナー発表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D5CAED8-1D1D-49AB-917A-975ED3B02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4D12C-9692-4086-B843-0896D3A9EC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4158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A1E550-E9F2-4CA5-98E8-AF1055281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50878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5903292-A1F8-463E-B0B7-C13CFA24AD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5D7ABDC-EEEB-4576-B149-FA8960C64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2024/2/29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F5D1F1D-2341-4E41-9EE6-4B7533F64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M1 </a:t>
            </a:r>
            <a:r>
              <a:rPr kumimoji="1" lang="ja-JP" altLang="en-US"/>
              <a:t>セミナー発表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3757FE0-E024-4520-9370-106EA0FEB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4D12C-9692-4086-B843-0896D3A9EC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0317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2387397-F5AA-4D2A-BD9C-E4C78111B4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CE870A2-99DD-4B58-AD3F-FAD39DF54D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0ABA528-F910-432F-8BBD-C33694E8E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2024/2/29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F1F0470-A357-4FCF-B601-6BFF5EBAA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M1 </a:t>
            </a:r>
            <a:r>
              <a:rPr kumimoji="1" lang="ja-JP" altLang="en-US"/>
              <a:t>セミナー発表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5ABBC06-E58B-4DB7-A564-3DCC8ABD1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4D12C-9692-4086-B843-0896D3A9EC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9675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AC255CD-5020-4EE1-9AE6-9F0FCF3AA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4703" y="1050878"/>
            <a:ext cx="10830757" cy="51179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11877E7-0A3C-4D84-81B3-A8FE4ED732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5068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ja-JP"/>
              <a:t>2024/2/29</a:t>
            </a:r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7E5EC32-4D59-4518-ADF4-204CD190CE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ja-JP" dirty="0"/>
              <a:t>M1 </a:t>
            </a:r>
            <a:r>
              <a:rPr lang="ja-JP" altLang="en-US" dirty="0"/>
              <a:t>セミナー発表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2B28BA8-2E1C-4540-B062-893C801054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799" y="0"/>
            <a:ext cx="2331868" cy="914351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bg1"/>
                </a:solidFill>
              </a:defRPr>
            </a:lvl1pPr>
          </a:lstStyle>
          <a:p>
            <a:fld id="{D424D12C-9692-4086-B843-0896D3A9ECC1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306A1E01-6087-4EE2-8BDD-0471EF8C9794}"/>
              </a:ext>
            </a:extLst>
          </p:cNvPr>
          <p:cNvCxnSpPr>
            <a:cxnSpLocks/>
          </p:cNvCxnSpPr>
          <p:nvPr userDrawn="1"/>
        </p:nvCxnSpPr>
        <p:spPr>
          <a:xfrm>
            <a:off x="343270" y="852256"/>
            <a:ext cx="1150546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9625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BD1A62-1911-451F-BB19-10E2960319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>
                <a:solidFill>
                  <a:schemeClr val="tx1"/>
                </a:solidFill>
              </a:rPr>
              <a:t>引継ぎ資料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33DC5D1-AAB4-417C-80EA-2FCBDC14F4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/>
              <a:t>2025</a:t>
            </a:r>
            <a:r>
              <a:rPr kumimoji="1" lang="ja-JP" altLang="en-US" dirty="0"/>
              <a:t>年</a:t>
            </a:r>
            <a:r>
              <a:rPr kumimoji="1" lang="en-US" altLang="ja-JP" dirty="0"/>
              <a:t>3</a:t>
            </a:r>
            <a:r>
              <a:rPr kumimoji="1" lang="ja-JP" altLang="en-US" dirty="0"/>
              <a:t>月</a:t>
            </a:r>
            <a:r>
              <a:rPr kumimoji="1" lang="en-US" altLang="ja-JP" dirty="0"/>
              <a:t>13</a:t>
            </a:r>
            <a:r>
              <a:rPr kumimoji="1" lang="ja-JP" altLang="en-US" dirty="0"/>
              <a:t>日 松坂 拓海</a:t>
            </a:r>
          </a:p>
        </p:txBody>
      </p:sp>
    </p:spTree>
    <p:extLst>
      <p:ext uri="{BB962C8B-B14F-4D97-AF65-F5344CB8AC3E}">
        <p14:creationId xmlns:p14="http://schemas.microsoft.com/office/powerpoint/2010/main" val="2702805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717F15-C310-42D4-B2B6-C14E3D1EE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引継ぎ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9E483B4-D360-4532-946F-9328CE970A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194" y="1050878"/>
            <a:ext cx="11518710" cy="5534560"/>
          </a:xfrm>
        </p:spPr>
        <p:txBody>
          <a:bodyPr>
            <a:normAutofit/>
          </a:bodyPr>
          <a:lstStyle/>
          <a:p>
            <a:r>
              <a:rPr lang="ja-JP" altLang="en-US" sz="2400" b="1" dirty="0"/>
              <a:t>資料</a:t>
            </a:r>
            <a:endParaRPr lang="ja-JP" altLang="en-US" sz="2000" dirty="0"/>
          </a:p>
          <a:p>
            <a:pPr lvl="1"/>
            <a:r>
              <a:rPr lang="ja-JP" altLang="en-US" sz="1800" b="1" dirty="0"/>
              <a:t>ソースコード </a:t>
            </a:r>
          </a:p>
          <a:p>
            <a:pPr marL="914400" lvl="2" indent="0">
              <a:buNone/>
            </a:pPr>
            <a:r>
              <a:rPr lang="en-US" altLang="ja-JP" sz="1600" dirty="0"/>
              <a:t>\\VENUS\Master\00_Graduate\23_Matsusaka\</a:t>
            </a:r>
            <a:r>
              <a:rPr lang="ja-JP" altLang="en-US" sz="1600" dirty="0"/>
              <a:t>引継ぎ資料</a:t>
            </a:r>
            <a:r>
              <a:rPr lang="en-US" altLang="ja-JP" sz="1600" dirty="0"/>
              <a:t>\TEG</a:t>
            </a:r>
            <a:r>
              <a:rPr lang="ja-JP" altLang="en-US" sz="1600" dirty="0"/>
              <a:t>回路</a:t>
            </a:r>
          </a:p>
          <a:p>
            <a:pPr lvl="2"/>
            <a:r>
              <a:rPr lang="ja-JP" altLang="en-US" sz="1600" dirty="0"/>
              <a:t>研究で使用した</a:t>
            </a:r>
            <a:r>
              <a:rPr lang="en-US" altLang="ja-JP" sz="1600" dirty="0"/>
              <a:t>TEG</a:t>
            </a:r>
            <a:r>
              <a:rPr lang="ja-JP" altLang="en-US" sz="1600" dirty="0"/>
              <a:t>回路のソースコード</a:t>
            </a:r>
            <a:endParaRPr lang="en-US" altLang="ja-JP" sz="1600" dirty="0"/>
          </a:p>
          <a:p>
            <a:pPr marL="914400" lvl="2" indent="0">
              <a:buNone/>
            </a:pPr>
            <a:r>
              <a:rPr lang="en-US" altLang="ja-JP" sz="1600" dirty="0"/>
              <a:t>\\VENUS\Master\00_Graduate\23_Matsusaka\</a:t>
            </a:r>
            <a:r>
              <a:rPr lang="ja-JP" altLang="en-US" sz="1600" dirty="0"/>
              <a:t>引継ぎ資料</a:t>
            </a:r>
            <a:r>
              <a:rPr lang="en-US" altLang="ja-JP" sz="1600" dirty="0"/>
              <a:t>\DDP</a:t>
            </a:r>
          </a:p>
          <a:p>
            <a:pPr lvl="2">
              <a:spcAft>
                <a:spcPts val="600"/>
              </a:spcAft>
            </a:pPr>
            <a:r>
              <a:rPr lang="ja-JP" altLang="en-US" sz="1600" dirty="0"/>
              <a:t>研究で使用した</a:t>
            </a:r>
            <a:r>
              <a:rPr lang="en-US" altLang="ja-JP" sz="1600" dirty="0"/>
              <a:t>DDP</a:t>
            </a:r>
            <a:r>
              <a:rPr lang="ja-JP" altLang="en-US" sz="1600" dirty="0"/>
              <a:t>のソースコード</a:t>
            </a:r>
            <a:endParaRPr lang="ja-JP" altLang="en-US" sz="1800" dirty="0"/>
          </a:p>
          <a:p>
            <a:pPr lvl="1"/>
            <a:r>
              <a:rPr lang="ja-JP" altLang="en-US" sz="1800" b="1" dirty="0"/>
              <a:t>データシート </a:t>
            </a:r>
          </a:p>
          <a:p>
            <a:pPr marL="914400" lvl="2" indent="0">
              <a:buNone/>
            </a:pPr>
            <a:r>
              <a:rPr lang="en-US" altLang="ja-JP" sz="1600" dirty="0"/>
              <a:t>\\VENUS\Master\00_Graduate\23_Matsusaka\</a:t>
            </a:r>
            <a:r>
              <a:rPr lang="ja-JP" altLang="en-US" sz="1600" dirty="0"/>
              <a:t>引継ぎ資料</a:t>
            </a:r>
            <a:r>
              <a:rPr lang="en-US" altLang="ja-JP" sz="1600" dirty="0"/>
              <a:t>\</a:t>
            </a:r>
            <a:r>
              <a:rPr lang="ja-JP" altLang="en-US" sz="1600" dirty="0"/>
              <a:t>研究で使用した</a:t>
            </a:r>
            <a:r>
              <a:rPr lang="en-US" altLang="ja-JP" sz="1600" dirty="0"/>
              <a:t>ZyboZ7-20_TEG</a:t>
            </a:r>
            <a:r>
              <a:rPr lang="ja-JP" altLang="en-US" sz="1600" dirty="0"/>
              <a:t>回路計測データ</a:t>
            </a:r>
            <a:r>
              <a:rPr lang="en-US" altLang="ja-JP" sz="1600" dirty="0"/>
              <a:t>_DDP</a:t>
            </a:r>
            <a:r>
              <a:rPr lang="ja-JP" altLang="en-US" sz="1600" dirty="0"/>
              <a:t>データ</a:t>
            </a:r>
          </a:p>
          <a:p>
            <a:pPr lvl="2">
              <a:spcAft>
                <a:spcPts val="600"/>
              </a:spcAft>
            </a:pPr>
            <a:r>
              <a:rPr lang="en-US" altLang="ja-JP" sz="1600" dirty="0"/>
              <a:t>ZyboZ7-20</a:t>
            </a:r>
            <a:r>
              <a:rPr lang="ja-JP" altLang="en-US" sz="1600" dirty="0"/>
              <a:t>の</a:t>
            </a:r>
            <a:r>
              <a:rPr lang="en-US" altLang="ja-JP" sz="1600" dirty="0"/>
              <a:t>TEG</a:t>
            </a:r>
            <a:r>
              <a:rPr lang="ja-JP" altLang="en-US" sz="1600" dirty="0"/>
              <a:t>回路計測データ、回帰分析結果、</a:t>
            </a:r>
            <a:r>
              <a:rPr lang="en-US" altLang="ja-JP" sz="1600" dirty="0"/>
              <a:t>DDP</a:t>
            </a:r>
            <a:r>
              <a:rPr lang="ja-JP" altLang="en-US" sz="1600" dirty="0"/>
              <a:t>の回路規模・電力データをまとめたデータシート</a:t>
            </a:r>
            <a:endParaRPr lang="ja-JP" altLang="en-US" sz="1800" dirty="0"/>
          </a:p>
          <a:p>
            <a:pPr lvl="1"/>
            <a:r>
              <a:rPr lang="ja-JP" altLang="en-US" sz="1800" b="1" dirty="0"/>
              <a:t>関連資料 </a:t>
            </a:r>
          </a:p>
          <a:p>
            <a:pPr marL="914400" lvl="2" indent="0">
              <a:buNone/>
            </a:pPr>
            <a:r>
              <a:rPr lang="en-US" altLang="ja-JP" sz="1600" dirty="0"/>
              <a:t>\\VENUS\Master\00_Graduate\23_Matsusaka\</a:t>
            </a:r>
            <a:r>
              <a:rPr lang="ja-JP" altLang="en-US" sz="1600" dirty="0"/>
              <a:t>引継ぎ資料</a:t>
            </a:r>
            <a:r>
              <a:rPr lang="en-US" altLang="ja-JP" sz="1600" dirty="0"/>
              <a:t>\</a:t>
            </a:r>
            <a:r>
              <a:rPr lang="ja-JP" altLang="en-US" sz="1600" dirty="0"/>
              <a:t>回路固定方法</a:t>
            </a:r>
            <a:r>
              <a:rPr lang="en-US" altLang="ja-JP" sz="1600" dirty="0"/>
              <a:t>_</a:t>
            </a:r>
            <a:r>
              <a:rPr lang="en-US" altLang="ja-JP" sz="1600" dirty="0" err="1"/>
              <a:t>Pblock</a:t>
            </a:r>
            <a:r>
              <a:rPr lang="ja-JP" altLang="en-US" sz="1600" dirty="0"/>
              <a:t>属性による実装エリア分け</a:t>
            </a:r>
            <a:r>
              <a:rPr lang="en-US" altLang="ja-JP" sz="1600" dirty="0"/>
              <a:t>_LOC_BEL</a:t>
            </a:r>
            <a:r>
              <a:rPr lang="ja-JP" altLang="en-US" sz="1600" dirty="0"/>
              <a:t>属性による配置固定</a:t>
            </a:r>
          </a:p>
          <a:p>
            <a:pPr lvl="2">
              <a:spcAft>
                <a:spcPts val="600"/>
              </a:spcAft>
            </a:pPr>
            <a:r>
              <a:rPr lang="ja-JP" altLang="en-US" sz="1600" dirty="0"/>
              <a:t>研究で使用した</a:t>
            </a:r>
            <a:r>
              <a:rPr lang="en-US" altLang="ja-JP" sz="1600" dirty="0" err="1"/>
              <a:t>PBlock</a:t>
            </a:r>
            <a:r>
              <a:rPr lang="en-US" altLang="ja-JP" sz="1600" dirty="0"/>
              <a:t>,</a:t>
            </a:r>
            <a:r>
              <a:rPr lang="ja-JP" altLang="en-US" sz="1600" dirty="0"/>
              <a:t> </a:t>
            </a:r>
            <a:r>
              <a:rPr lang="en-US" altLang="ja-JP" sz="1600" dirty="0"/>
              <a:t>LOC/BEL</a:t>
            </a:r>
            <a:r>
              <a:rPr lang="ja-JP" altLang="en-US" sz="1600" dirty="0"/>
              <a:t>属性を用いた回路実装エリアの指定・固定方法</a:t>
            </a:r>
            <a:endParaRPr lang="ja-JP" altLang="en-US" sz="1800" dirty="0"/>
          </a:p>
          <a:p>
            <a:pPr lvl="1"/>
            <a:r>
              <a:rPr lang="ja-JP" altLang="en-US" sz="1800" b="1" dirty="0"/>
              <a:t>先行研究 </a:t>
            </a:r>
          </a:p>
          <a:p>
            <a:pPr marL="914400" lvl="2" indent="0">
              <a:buNone/>
            </a:pPr>
            <a:r>
              <a:rPr lang="en-US" altLang="ja-JP" sz="1600" dirty="0"/>
              <a:t>\\VENUS\Master\00_Graduate\23_Matsusaka\</a:t>
            </a:r>
            <a:r>
              <a:rPr lang="ja-JP" altLang="en-US" sz="1600" dirty="0"/>
              <a:t>引継ぎ資料</a:t>
            </a:r>
            <a:r>
              <a:rPr lang="en-US" altLang="ja-JP" sz="1600" dirty="0"/>
              <a:t>\</a:t>
            </a:r>
            <a:r>
              <a:rPr lang="ja-JP" altLang="en-US" sz="1600" dirty="0"/>
              <a:t>先行研究</a:t>
            </a:r>
          </a:p>
          <a:p>
            <a:pPr lvl="2"/>
            <a:r>
              <a:rPr lang="ja-JP" altLang="en-US" sz="1600" dirty="0"/>
              <a:t>本研究に関連する先行研究</a:t>
            </a:r>
          </a:p>
        </p:txBody>
      </p:sp>
    </p:spTree>
    <p:extLst>
      <p:ext uri="{BB962C8B-B14F-4D97-AF65-F5344CB8AC3E}">
        <p14:creationId xmlns:p14="http://schemas.microsoft.com/office/powerpoint/2010/main" val="2613904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7B9512-BD80-4951-BC34-32BF3FC43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研究の概要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6AD14A6-DC15-4093-BD2A-B18E9E218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kumimoji="1" lang="ja-JP" altLang="en-US" sz="2400" dirty="0"/>
              <a:t>目的：</a:t>
            </a:r>
            <a:r>
              <a:rPr kumimoji="1" lang="en-US" altLang="ja-JP" sz="2400" dirty="0"/>
              <a:t>DDP</a:t>
            </a:r>
            <a:r>
              <a:rPr kumimoji="1" lang="ja-JP" altLang="en-US" sz="2400" dirty="0"/>
              <a:t>を搭載した</a:t>
            </a:r>
            <a:r>
              <a:rPr kumimoji="1" lang="en-US" altLang="ja-JP" sz="2400" dirty="0"/>
              <a:t>FPGA</a:t>
            </a:r>
            <a:r>
              <a:rPr kumimoji="1" lang="ja-JP" altLang="en-US" sz="2400" dirty="0"/>
              <a:t>ボード電力を推定</a:t>
            </a:r>
            <a:endParaRPr kumimoji="1" lang="en-US" altLang="ja-JP" sz="2400" dirty="0"/>
          </a:p>
          <a:p>
            <a:pPr>
              <a:spcAft>
                <a:spcPts val="600"/>
              </a:spcAft>
            </a:pPr>
            <a:r>
              <a:rPr kumimoji="1" lang="ja-JP" altLang="en-US" sz="2400" dirty="0"/>
              <a:t>方法：電力推定モデルを用いた電力推定法⇒</a:t>
            </a:r>
            <a:r>
              <a:rPr kumimoji="1" lang="en-US" altLang="ja-JP" sz="2400" dirty="0"/>
              <a:t>DDP</a:t>
            </a:r>
            <a:r>
              <a:rPr kumimoji="1" lang="ja-JP" altLang="en-US" sz="2400" dirty="0"/>
              <a:t>搭載</a:t>
            </a:r>
            <a:r>
              <a:rPr kumimoji="1" lang="en-US" altLang="ja-JP" sz="2400" dirty="0"/>
              <a:t>FPGA</a:t>
            </a:r>
            <a:r>
              <a:rPr kumimoji="1" lang="ja-JP" altLang="en-US" sz="2400" dirty="0"/>
              <a:t>ボード電力推定モデル</a:t>
            </a:r>
            <a:endParaRPr kumimoji="1" lang="en-US" altLang="ja-JP" sz="2000" dirty="0"/>
          </a:p>
          <a:p>
            <a:pPr lvl="1">
              <a:spcAft>
                <a:spcPts val="600"/>
              </a:spcAft>
            </a:pPr>
            <a:r>
              <a:rPr lang="ja-JP" altLang="en-US" sz="2000" dirty="0"/>
              <a:t>問題：提案する電力推定モデルのパラメータのうち、デバイスの電力特性が不明</a:t>
            </a:r>
            <a:endParaRPr kumimoji="1" lang="en-US" altLang="ja-JP" sz="2000" dirty="0"/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kumimoji="1" lang="ja-JP" altLang="en-US" sz="2000" dirty="0"/>
              <a:t>提案：事前に</a:t>
            </a:r>
            <a:r>
              <a:rPr kumimoji="1" lang="en-US" altLang="ja-JP" sz="2000" dirty="0"/>
              <a:t>TEG</a:t>
            </a:r>
            <a:r>
              <a:rPr kumimoji="1" lang="ja-JP" altLang="en-US" sz="2000" dirty="0"/>
              <a:t>回路</a:t>
            </a:r>
            <a:r>
              <a:rPr kumimoji="1" lang="en-US" altLang="ja-JP" sz="2000" dirty="0"/>
              <a:t>(</a:t>
            </a:r>
            <a:r>
              <a:rPr kumimoji="1" lang="ja-JP" altLang="en-US" sz="2000" dirty="0"/>
              <a:t>テスト用回路</a:t>
            </a:r>
            <a:r>
              <a:rPr kumimoji="1" lang="en-US" altLang="ja-JP" sz="2000" dirty="0"/>
              <a:t>)</a:t>
            </a:r>
            <a:r>
              <a:rPr kumimoji="1" lang="ja-JP" altLang="en-US" sz="2000" dirty="0"/>
              <a:t>を</a:t>
            </a:r>
            <a:r>
              <a:rPr kumimoji="1" lang="en-US" altLang="ja-JP" sz="2000" dirty="0"/>
              <a:t>ZyboZ7-20</a:t>
            </a:r>
            <a:r>
              <a:rPr kumimoji="1" lang="ja-JP" altLang="en-US" sz="2000" dirty="0"/>
              <a:t>に実装し、電力を実測</a:t>
            </a:r>
            <a:endParaRPr kumimoji="1" lang="en-US" altLang="ja-JP" sz="2000" dirty="0"/>
          </a:p>
          <a:p>
            <a:pPr marL="45720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ja-JP" altLang="en-US" sz="2000" dirty="0"/>
              <a:t>              実測電力と</a:t>
            </a:r>
            <a:r>
              <a:rPr lang="en-US" altLang="ja-JP" sz="2000" dirty="0"/>
              <a:t>TEG</a:t>
            </a:r>
            <a:r>
              <a:rPr lang="ja-JP" altLang="en-US" sz="2000" dirty="0"/>
              <a:t>回路のパラメータを基に</a:t>
            </a:r>
            <a:r>
              <a:rPr kumimoji="1" lang="ja-JP" altLang="en-US" sz="2000" dirty="0"/>
              <a:t>回帰分析を実施</a:t>
            </a:r>
            <a:endParaRPr kumimoji="1" lang="en-US" altLang="ja-JP" sz="2000" dirty="0"/>
          </a:p>
          <a:p>
            <a:pPr marL="45720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kumimoji="1" lang="ja-JP" altLang="en-US" sz="2000" dirty="0"/>
              <a:t>              得られた係数をデバイス電力特性と見なす</a:t>
            </a:r>
            <a:endParaRPr kumimoji="1" lang="en-US" altLang="ja-JP" sz="2000" dirty="0"/>
          </a:p>
          <a:p>
            <a:pPr marL="45720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ja-JP" altLang="en-US" sz="2000" dirty="0"/>
              <a:t>              ⇒</a:t>
            </a:r>
            <a:r>
              <a:rPr lang="en-US" altLang="ja-JP" sz="2000" dirty="0"/>
              <a:t>DDP</a:t>
            </a:r>
            <a:r>
              <a:rPr lang="ja-JP" altLang="en-US" sz="2000" dirty="0"/>
              <a:t>搭載</a:t>
            </a:r>
            <a:r>
              <a:rPr lang="en-US" altLang="ja-JP" sz="2000" dirty="0"/>
              <a:t>ZyboZ7-20</a:t>
            </a:r>
            <a:r>
              <a:rPr lang="ja-JP" altLang="en-US" sz="2000" dirty="0"/>
              <a:t>の電力推定モデル</a:t>
            </a:r>
            <a:endParaRPr kumimoji="1" lang="en-US" altLang="ja-JP" sz="2000" dirty="0"/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kumimoji="1" lang="ja-JP" altLang="en-US" sz="2000" dirty="0"/>
              <a:t>修論では</a:t>
            </a:r>
            <a:r>
              <a:rPr kumimoji="1" lang="en-US" altLang="ja-JP" sz="2000" dirty="0"/>
              <a:t>TEG</a:t>
            </a:r>
            <a:r>
              <a:rPr kumimoji="1" lang="ja-JP" altLang="en-US" sz="2000" dirty="0"/>
              <a:t>回路を用いたデバイス電力特性の取得、</a:t>
            </a:r>
            <a:r>
              <a:rPr kumimoji="1" lang="en-US" altLang="ja-JP" sz="2000" dirty="0"/>
              <a:t>DDP</a:t>
            </a:r>
            <a:r>
              <a:rPr kumimoji="1" lang="ja-JP" altLang="en-US" sz="2000" dirty="0"/>
              <a:t>搭載</a:t>
            </a:r>
            <a:r>
              <a:rPr kumimoji="1" lang="en-US" altLang="ja-JP" sz="2000" dirty="0"/>
              <a:t>FPGA</a:t>
            </a:r>
            <a:r>
              <a:rPr kumimoji="1" lang="ja-JP" altLang="en-US" sz="2000" dirty="0"/>
              <a:t>電力推定モデルを提案</a:t>
            </a:r>
            <a:endParaRPr kumimoji="1" lang="en-US" altLang="ja-JP" sz="2000" dirty="0"/>
          </a:p>
          <a:p>
            <a:pPr>
              <a:spcAft>
                <a:spcPts val="600"/>
              </a:spcAft>
            </a:pPr>
            <a:r>
              <a:rPr lang="ja-JP" altLang="en-US" sz="2400" dirty="0"/>
              <a:t>評価結果：誤差</a:t>
            </a:r>
            <a:r>
              <a:rPr lang="en-US" altLang="ja-JP" sz="2400" dirty="0"/>
              <a:t>±</a:t>
            </a:r>
            <a:r>
              <a:rPr lang="ja-JP" altLang="en-US" sz="2400" dirty="0"/>
              <a:t>５％未満</a:t>
            </a:r>
            <a:endParaRPr lang="en-US" altLang="ja-JP" sz="2400" dirty="0"/>
          </a:p>
          <a:p>
            <a:pPr>
              <a:spcAft>
                <a:spcPts val="600"/>
              </a:spcAft>
            </a:pPr>
            <a:r>
              <a:rPr lang="ja-JP" altLang="en-US" sz="2400" dirty="0"/>
              <a:t>使用デバイス</a:t>
            </a:r>
            <a:endParaRPr lang="en-US" altLang="ja-JP" sz="2400" dirty="0"/>
          </a:p>
          <a:p>
            <a:pPr lvl="1">
              <a:spcAft>
                <a:spcPts val="600"/>
              </a:spcAft>
            </a:pPr>
            <a:r>
              <a:rPr lang="en-US" altLang="ja-JP" sz="2000" dirty="0"/>
              <a:t>FPGA</a:t>
            </a:r>
            <a:r>
              <a:rPr lang="ja-JP" altLang="en-US" sz="2000" dirty="0"/>
              <a:t>ボード：</a:t>
            </a:r>
            <a:r>
              <a:rPr lang="en-US" altLang="ja-JP" sz="2000" dirty="0" err="1"/>
              <a:t>Digilent</a:t>
            </a:r>
            <a:r>
              <a:rPr lang="ja-JP" altLang="en-US" sz="2000" dirty="0"/>
              <a:t>社 </a:t>
            </a:r>
            <a:r>
              <a:rPr lang="en-US" altLang="ja-JP" sz="2000" dirty="0"/>
              <a:t>ZyboZ7-20 </a:t>
            </a:r>
          </a:p>
          <a:p>
            <a:pPr lvl="1">
              <a:spcAft>
                <a:spcPts val="600"/>
              </a:spcAft>
            </a:pPr>
            <a:r>
              <a:rPr lang="en-US" altLang="ja-JP" sz="2000" dirty="0"/>
              <a:t>USB</a:t>
            </a:r>
            <a:r>
              <a:rPr lang="ja-JP" altLang="en-US" sz="2000" dirty="0"/>
              <a:t>ワットチェッカー：</a:t>
            </a:r>
            <a:r>
              <a:rPr lang="en-US" altLang="ja-JP" sz="2000" dirty="0"/>
              <a:t>Route R</a:t>
            </a:r>
            <a:r>
              <a:rPr lang="ja-JP" altLang="en-US" sz="2000" dirty="0"/>
              <a:t>社 </a:t>
            </a:r>
            <a:r>
              <a:rPr lang="en-US" altLang="ja-JP" sz="2000"/>
              <a:t>RT-USBVAC8QC</a:t>
            </a:r>
          </a:p>
        </p:txBody>
      </p:sp>
    </p:spTree>
    <p:extLst>
      <p:ext uri="{BB962C8B-B14F-4D97-AF65-F5344CB8AC3E}">
        <p14:creationId xmlns:p14="http://schemas.microsoft.com/office/powerpoint/2010/main" val="361957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EEBB3B-FD19-4784-9697-3F09289AE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今後の課題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159231A-5684-4431-AF0D-9E91F3F30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194" y="1050877"/>
            <a:ext cx="11518710" cy="56705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ja-JP" sz="2400" dirty="0">
                <a:solidFill>
                  <a:schemeClr val="accent2"/>
                </a:solidFill>
              </a:rPr>
              <a:t>※</a:t>
            </a:r>
            <a:r>
              <a:rPr lang="ja-JP" altLang="en-US" sz="2400" dirty="0">
                <a:solidFill>
                  <a:schemeClr val="accent2"/>
                </a:solidFill>
              </a:rPr>
              <a:t> 詳しくは修士論文の</a:t>
            </a:r>
            <a:r>
              <a:rPr lang="en-US" altLang="ja-JP" sz="2400" dirty="0">
                <a:solidFill>
                  <a:schemeClr val="accent2"/>
                </a:solidFill>
              </a:rPr>
              <a:t>4.6</a:t>
            </a:r>
            <a:r>
              <a:rPr lang="ja-JP" altLang="en-US" sz="2400" dirty="0">
                <a:solidFill>
                  <a:schemeClr val="accent2"/>
                </a:solidFill>
              </a:rPr>
              <a:t>章</a:t>
            </a:r>
            <a:r>
              <a:rPr lang="ja-JP" altLang="en-US" sz="2400">
                <a:solidFill>
                  <a:schemeClr val="accent2"/>
                </a:solidFill>
              </a:rPr>
              <a:t>の考察内</a:t>
            </a:r>
            <a:endParaRPr kumimoji="1" lang="en-US" altLang="ja-JP" sz="2400" dirty="0"/>
          </a:p>
          <a:p>
            <a:pPr marL="457200" indent="-457200">
              <a:buFont typeface="+mj-lt"/>
              <a:buAutoNum type="arabicPeriod"/>
            </a:pPr>
            <a:r>
              <a:rPr kumimoji="1" lang="en-US" altLang="ja-JP" sz="2400" dirty="0"/>
              <a:t>TEG</a:t>
            </a:r>
            <a:r>
              <a:rPr kumimoji="1" lang="ja-JP" altLang="en-US" sz="2400" dirty="0"/>
              <a:t>回路の妥当性の検討</a:t>
            </a:r>
            <a:endParaRPr kumimoji="1" lang="en-US" altLang="ja-JP" sz="2400" dirty="0"/>
          </a:p>
          <a:p>
            <a:pPr lvl="1"/>
            <a:r>
              <a:rPr lang="ja-JP" altLang="en-US" sz="2000" dirty="0"/>
              <a:t>本研究では</a:t>
            </a:r>
            <a:r>
              <a:rPr lang="en-US" altLang="ja-JP" sz="2000" dirty="0"/>
              <a:t>STP</a:t>
            </a:r>
            <a:r>
              <a:rPr lang="ja-JP" altLang="en-US" sz="2000" dirty="0"/>
              <a:t>に基づいた</a:t>
            </a:r>
            <a:r>
              <a:rPr lang="en-US" altLang="ja-JP" sz="2000" dirty="0"/>
              <a:t>28</a:t>
            </a:r>
            <a:r>
              <a:rPr lang="ja-JP" altLang="en-US" sz="2000" dirty="0"/>
              <a:t>パターンの</a:t>
            </a:r>
            <a:r>
              <a:rPr lang="en-US" altLang="ja-JP" sz="2000" dirty="0"/>
              <a:t>TEG</a:t>
            </a:r>
            <a:r>
              <a:rPr lang="ja-JP" altLang="en-US" sz="2000" dirty="0"/>
              <a:t>回路を使用</a:t>
            </a:r>
            <a:endParaRPr lang="en-US" altLang="ja-JP" sz="2000" dirty="0"/>
          </a:p>
          <a:p>
            <a:pPr lvl="2"/>
            <a:r>
              <a:rPr kumimoji="1" lang="ja-JP" altLang="en-US" sz="1600" dirty="0"/>
              <a:t>パターン数、回路構造が妥当か</a:t>
            </a:r>
            <a:endParaRPr kumimoji="1" lang="en-US" altLang="ja-JP" sz="1600" dirty="0"/>
          </a:p>
          <a:p>
            <a:pPr lvl="2"/>
            <a:r>
              <a:rPr kumimoji="1" lang="ja-JP" altLang="en-US" sz="1600" dirty="0"/>
              <a:t>デバイス毎に電力特性を取得する必要がある特性上、効率化の面からパターン数は少ない方が望ましい</a:t>
            </a:r>
            <a:endParaRPr kumimoji="1" lang="en-US" altLang="ja-JP" sz="1600" dirty="0"/>
          </a:p>
          <a:p>
            <a:pPr marL="914400" lvl="2" indent="0">
              <a:buNone/>
            </a:pPr>
            <a:r>
              <a:rPr lang="ja-JP" altLang="en-US" sz="1600" dirty="0"/>
              <a:t>    ⇒ 可能ならパターン数を削減し、改善を図りたい ⇒ パターン削減時の推定精度への影響を調査</a:t>
            </a:r>
            <a:endParaRPr kumimoji="1" lang="en-US" altLang="ja-JP" sz="1600" dirty="0"/>
          </a:p>
          <a:p>
            <a:pPr marL="457200" indent="-457200">
              <a:buFont typeface="+mj-lt"/>
              <a:buAutoNum type="arabicPeriod"/>
            </a:pPr>
            <a:r>
              <a:rPr kumimoji="1" lang="ja-JP" altLang="en-US" sz="2400" dirty="0"/>
              <a:t>モデルの精度評価には様々なケースで評価が必要</a:t>
            </a:r>
            <a:endParaRPr kumimoji="1" lang="en-US" altLang="ja-JP" sz="2400" dirty="0"/>
          </a:p>
          <a:p>
            <a:pPr marL="914400" lvl="1" indent="-457200">
              <a:buFont typeface="+mj-lt"/>
              <a:buAutoNum type="alphaLcPeriod"/>
            </a:pPr>
            <a:r>
              <a:rPr lang="en-US" altLang="ja-JP" sz="2000" dirty="0"/>
              <a:t>FPGA</a:t>
            </a:r>
            <a:r>
              <a:rPr lang="ja-JP" altLang="en-US" sz="2000" dirty="0"/>
              <a:t>ボード</a:t>
            </a:r>
            <a:endParaRPr lang="en-US" altLang="ja-JP" sz="2000" dirty="0"/>
          </a:p>
          <a:p>
            <a:pPr marL="914400" lvl="1" indent="-457200">
              <a:buFont typeface="+mj-lt"/>
              <a:buAutoNum type="alphaLcPeriod"/>
            </a:pPr>
            <a:r>
              <a:rPr kumimoji="1" lang="en-US" altLang="ja-JP" sz="2000" dirty="0"/>
              <a:t>DDP</a:t>
            </a:r>
            <a:r>
              <a:rPr kumimoji="1" lang="ja-JP" altLang="en-US" sz="2000" dirty="0"/>
              <a:t>アーキテクチャ</a:t>
            </a:r>
            <a:endParaRPr kumimoji="1" lang="en-US" altLang="ja-JP" sz="2000" dirty="0"/>
          </a:p>
          <a:p>
            <a:pPr marL="914400" lvl="1" indent="-457200">
              <a:buFont typeface="+mj-lt"/>
              <a:buAutoNum type="alphaLcPeriod"/>
            </a:pPr>
            <a:r>
              <a:rPr lang="en-US" altLang="ja-JP" sz="2000" dirty="0"/>
              <a:t>DDP</a:t>
            </a:r>
            <a:r>
              <a:rPr lang="ja-JP" altLang="en-US" sz="2000" dirty="0"/>
              <a:t>プログラム</a:t>
            </a:r>
            <a:endParaRPr lang="en-US" altLang="ja-JP" sz="2000" dirty="0"/>
          </a:p>
          <a:p>
            <a:pPr marL="457200" indent="-457200">
              <a:buFont typeface="+mj-lt"/>
              <a:buAutoNum type="arabicPeriod"/>
            </a:pPr>
            <a:r>
              <a:rPr lang="ja-JP" altLang="en-US" sz="2400" dirty="0"/>
              <a:t>自動的・半自動的に動作周波数・動作確率を導出するツールの開発</a:t>
            </a:r>
            <a:endParaRPr lang="en-US" altLang="ja-JP" sz="2400" dirty="0"/>
          </a:p>
          <a:p>
            <a:pPr lvl="1"/>
            <a:r>
              <a:rPr lang="ja-JP" altLang="en-US" sz="2000" dirty="0"/>
              <a:t>電力推定モデルのパラメータのうち、動作周波数</a:t>
            </a:r>
            <a:r>
              <a:rPr lang="en-US" altLang="ja-JP" sz="2000" i="1" dirty="0"/>
              <a:t>f </a:t>
            </a:r>
            <a:r>
              <a:rPr lang="ja-JP" altLang="en-US" sz="2000" dirty="0"/>
              <a:t>や動作確率</a:t>
            </a:r>
            <a:r>
              <a:rPr lang="en-US" altLang="ja-JP" sz="2000" dirty="0"/>
              <a:t>α</a:t>
            </a:r>
            <a:r>
              <a:rPr lang="ja-JP" altLang="en-US" sz="2000" dirty="0"/>
              <a:t>は、アプリケーション、</a:t>
            </a:r>
            <a:r>
              <a:rPr lang="en-US" altLang="ja-JP" sz="2000" dirty="0"/>
              <a:t>DDP</a:t>
            </a:r>
            <a:r>
              <a:rPr lang="ja-JP" altLang="en-US" sz="2000" dirty="0"/>
              <a:t>アーキテクチャ、</a:t>
            </a:r>
            <a:r>
              <a:rPr lang="en-US" altLang="ja-JP" sz="2000" dirty="0"/>
              <a:t>DDP</a:t>
            </a:r>
            <a:r>
              <a:rPr lang="ja-JP" altLang="en-US" sz="2000" dirty="0"/>
              <a:t>プログラム構造などの影響を受け、変化する</a:t>
            </a:r>
            <a:endParaRPr lang="en-US" altLang="ja-JP" sz="2000" dirty="0"/>
          </a:p>
          <a:p>
            <a:pPr lvl="1"/>
            <a:r>
              <a:rPr lang="en-US" altLang="ja-JP" sz="2000" dirty="0"/>
              <a:t>DDP</a:t>
            </a:r>
            <a:r>
              <a:rPr lang="ja-JP" altLang="en-US" sz="2000" dirty="0"/>
              <a:t>の扱いに慣れた回路設計者でないと</a:t>
            </a:r>
            <a:r>
              <a:rPr lang="en-US" altLang="ja-JP" sz="2000" i="1" dirty="0"/>
              <a:t>f </a:t>
            </a:r>
            <a:r>
              <a:rPr lang="ja-JP" altLang="en-US" sz="2000" i="1" dirty="0"/>
              <a:t>や</a:t>
            </a:r>
            <a:r>
              <a:rPr lang="en-US" altLang="ja-JP" sz="2000" dirty="0"/>
              <a:t>α</a:t>
            </a:r>
            <a:r>
              <a:rPr lang="ja-JP" altLang="en-US" sz="2000" dirty="0"/>
              <a:t>を導出するのは難しい</a:t>
            </a:r>
            <a:endParaRPr lang="en-US" altLang="ja-JP" sz="2000" dirty="0"/>
          </a:p>
          <a:p>
            <a:pPr marL="457200" lvl="1" indent="0">
              <a:buNone/>
            </a:pPr>
            <a:r>
              <a:rPr lang="ja-JP" altLang="en-US" sz="2000" dirty="0"/>
              <a:t>⇒本提案手法を活用するにあたりアプリケーション、</a:t>
            </a:r>
            <a:r>
              <a:rPr lang="en-US" altLang="ja-JP" sz="2000" dirty="0"/>
              <a:t>DDP</a:t>
            </a:r>
            <a:r>
              <a:rPr lang="ja-JP" altLang="en-US" sz="2000" dirty="0"/>
              <a:t>アーキテクチャ、</a:t>
            </a:r>
            <a:r>
              <a:rPr lang="en-US" altLang="ja-JP" sz="2000" dirty="0"/>
              <a:t>DDP</a:t>
            </a:r>
            <a:r>
              <a:rPr lang="ja-JP" altLang="en-US" sz="2000" dirty="0"/>
              <a:t>プログラム構造から</a:t>
            </a:r>
            <a:r>
              <a:rPr lang="en-US" altLang="ja-JP" sz="2000" i="1" dirty="0"/>
              <a:t>f </a:t>
            </a:r>
            <a:r>
              <a:rPr lang="ja-JP" altLang="en-US" sz="2000" i="1" dirty="0"/>
              <a:t>や</a:t>
            </a:r>
            <a:r>
              <a:rPr lang="en-US" altLang="ja-JP" sz="2000" dirty="0"/>
              <a:t>α</a:t>
            </a:r>
            <a:r>
              <a:rPr lang="ja-JP" altLang="en-US" sz="2000" dirty="0"/>
              <a:t>を自動的、もしく は半自動的に導出するツールの開発が必要</a:t>
            </a:r>
            <a:endParaRPr lang="en-US" altLang="ja-JP" sz="2000" dirty="0"/>
          </a:p>
        </p:txBody>
      </p:sp>
    </p:spTree>
    <p:extLst>
      <p:ext uri="{BB962C8B-B14F-4D97-AF65-F5344CB8AC3E}">
        <p14:creationId xmlns:p14="http://schemas.microsoft.com/office/powerpoint/2010/main" val="2333626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メイリオ_Segoe UI">
      <a:majorFont>
        <a:latin typeface="Segoe UI"/>
        <a:ea typeface="メイリオ"/>
        <a:cs typeface=""/>
      </a:majorFont>
      <a:minorFont>
        <a:latin typeface="Segoe U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プレゼンテーション19" id="{2308CF0E-4050-43D9-B7D9-CC804ABDBC45}" vid="{3161B63C-2832-4FB9-A3C8-95D512D51BD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AEAF34B3F3DA2D40A5F355228D7B82EA" ma:contentTypeVersion="4" ma:contentTypeDescription="新しいドキュメントを作成します。" ma:contentTypeScope="" ma:versionID="cf8934c32d9cd78e9d2eebb3f68dfa49">
  <xsd:schema xmlns:xsd="http://www.w3.org/2001/XMLSchema" xmlns:xs="http://www.w3.org/2001/XMLSchema" xmlns:p="http://schemas.microsoft.com/office/2006/metadata/properties" xmlns:ns3="d5448ca6-9935-4ce6-aabb-aa27e8dd9ba5" targetNamespace="http://schemas.microsoft.com/office/2006/metadata/properties" ma:root="true" ma:fieldsID="86a6ac66945186fbe982e17b12bd6d08" ns3:_="">
    <xsd:import namespace="d5448ca6-9935-4ce6-aabb-aa27e8dd9ba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448ca6-9935-4ce6-aabb-aa27e8dd9b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CB00FCF-E9EE-4287-B0CE-EA7F5F4AB08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EEE2B20-53C4-476F-8715-74C0B0AD7F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5448ca6-9935-4ce6-aabb-aa27e8dd9ba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1D8F8A5-C94B-4B05-9DED-CC756354DC3C}">
  <ds:schemaRefs>
    <ds:schemaRef ds:uri="http://www.w3.org/XML/1998/namespace"/>
    <ds:schemaRef ds:uri="http://schemas.microsoft.com/office/2006/documentManagement/types"/>
    <ds:schemaRef ds:uri="http://purl.org/dc/elements/1.1/"/>
    <ds:schemaRef ds:uri="d5448ca6-9935-4ce6-aabb-aa27e8dd9ba5"/>
    <ds:schemaRef ds:uri="http://schemas.microsoft.com/office/2006/metadata/properti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資料テンプレ―ト</Template>
  <TotalTime>151</TotalTime>
  <Words>554</Words>
  <Application>Microsoft Office PowerPoint</Application>
  <PresentationFormat>ワイド画面</PresentationFormat>
  <Paragraphs>46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9" baseType="lpstr">
      <vt:lpstr>メイリオ</vt:lpstr>
      <vt:lpstr>游ゴシック</vt:lpstr>
      <vt:lpstr>Arial</vt:lpstr>
      <vt:lpstr>Segoe UI</vt:lpstr>
      <vt:lpstr>Office テーマ</vt:lpstr>
      <vt:lpstr>引継ぎ資料</vt:lpstr>
      <vt:lpstr>引継ぎ</vt:lpstr>
      <vt:lpstr>研究の概要</vt:lpstr>
      <vt:lpstr>今後の課題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引継ぎ</dc:title>
  <dc:creator>松坂拓海</dc:creator>
  <cp:lastModifiedBy>松坂拓海</cp:lastModifiedBy>
  <cp:revision>19</cp:revision>
  <dcterms:created xsi:type="dcterms:W3CDTF">2025-03-12T07:05:41Z</dcterms:created>
  <dcterms:modified xsi:type="dcterms:W3CDTF">2025-03-13T03:12:01Z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0x010100AEAF34B3F3DA2D40A5F355228D7B82EA</vt:lpwstr>
  </property>
</Properties>
</file>